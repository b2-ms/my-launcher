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core story: the deck explains how the launcher was planned from the PRD, built in Compose, and validated on an Android emulator. Emphasize that the app targets a Windows Phone-style experience rather than a generic Android home screen.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product as a response to a real UX gap. The PRD described former Windows Phone users, customization enthusiasts, and minimalist users as the target audience. The implementation was designed to satisfy all three with a clean launcher that still behaves like Android.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first version was intentionally scoped to the highest-value launcher behaviors. The alpha build proves the shell, tile grid, app discovery, settings, and edit loop before expanding into live content or sync features.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technical core slide. The launcher works because app discovery, state management, persistence, and Compose rendering are kept in separate layers. Emphasize that the activity is registered as a home app, not just a normal screen in a normal app.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Call out that the stack is intentionally modern but not experimental. Compose handles the launcher UI well, while DataStore and Room keep settings and tile state separate from rendering logic. The version catalog keeps dependency management tidy.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the screenshot to show the actual result of the tile grid implementation. Mention that the UI is designed around a six-column grid, with the wallpaper visible through translucent tiles and a start screen layout that mirrors Windows Phone.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explains the more distinctive launcher behavior. Edit mode exposes the controls that make the layout personal, while dwell-to-group is the main interaction that differentiates the app from a standard icon grid.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the app list is not a separate launcher, but the second half of the same navigation model. It supports quick search, section headers, and a long-press pin action that feeds the Start screen.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the settings screen as the control center for the app. The important detail is that the launcher is highly themeable, so the same core UI can support different tastes and levels of transparency.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engineering loop slide. The project was validated by building to a running emulator, launching the home activity, and comparing the result to the documented UI. That keeps the deck grounded in an actual implementation path rather than a slide-only concept.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the current state of the app. The alpha already demonstrates the key user experience, and the remaining roadmap is about making the launcher richer and more durable over time.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ounded Rectangle 1"/>
          <p:cNvSpPr/>
          <p:nvPr/>
        </p:nvSpPr>
        <p:spPr>
          <a:xfrm>
            <a:off x="640080" y="914400"/>
            <a:ext cx="5577840" cy="484632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914400"/>
            <a:ext cx="91440" cy="48463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143000"/>
            <a:ext cx="4480560" cy="320040"/>
          </a:xfrm>
          <a:prstGeom prst="rect">
            <a:avLst/>
          </a:prstGeom>
          <a:noFill/>
          <a:ln>
            <a:noFill/>
          </a:ln>
        </p:spPr>
        <p:txBody>
          <a:bodyPr wrap="square" anchor="t">
            <a:spAutoFit/>
          </a:bodyPr>
          <a:lstStyle/>
          <a:p>
            <a:pPr algn="l">
              <a:spcBef>
                <a:spcPts val="0"/>
              </a:spcBef>
              <a:spcAft>
                <a:spcPts val="0"/>
              </a:spcAft>
            </a:pPr>
            <a:r>
              <a:rPr sz="1200" b="1" i="0">
                <a:solidFill>
                  <a:srgbClr val="4B9BFF"/>
                </a:solidFill>
                <a:latin typeface="Segoe UI"/>
              </a:rPr>
              <a:t>CASE STUDY</a:t>
            </a:r>
          </a:p>
        </p:txBody>
      </p:sp>
      <p:sp>
        <p:nvSpPr>
          <p:cNvPr id="5" name="TextBox 4"/>
          <p:cNvSpPr txBox="1"/>
          <p:nvPr/>
        </p:nvSpPr>
        <p:spPr>
          <a:xfrm>
            <a:off x="914400" y="1481328"/>
            <a:ext cx="4572000" cy="1234440"/>
          </a:xfrm>
          <a:prstGeom prst="rect">
            <a:avLst/>
          </a:prstGeom>
          <a:noFill/>
          <a:ln>
            <a:noFill/>
          </a:ln>
        </p:spPr>
        <p:txBody>
          <a:bodyPr wrap="square" anchor="t">
            <a:spAutoFit/>
          </a:bodyPr>
          <a:lstStyle/>
          <a:p>
            <a:pPr algn="l">
              <a:spcBef>
                <a:spcPts val="0"/>
              </a:spcBef>
              <a:spcAft>
                <a:spcPts val="0"/>
              </a:spcAft>
            </a:pPr>
            <a:r>
              <a:rPr sz="3000" b="1" i="0">
                <a:solidFill>
                  <a:srgbClr val="FFFFFF"/>
                </a:solidFill>
                <a:latin typeface="Segoe UI"/>
              </a:rPr>
              <a:t>My Launcher</a:t>
            </a:r>
          </a:p>
        </p:txBody>
      </p:sp>
      <p:sp>
        <p:nvSpPr>
          <p:cNvPr id="6" name="TextBox 5"/>
          <p:cNvSpPr txBox="1"/>
          <p:nvPr/>
        </p:nvSpPr>
        <p:spPr>
          <a:xfrm>
            <a:off x="914400" y="2761488"/>
            <a:ext cx="4572000" cy="594360"/>
          </a:xfrm>
          <a:prstGeom prst="rect">
            <a:avLst/>
          </a:prstGeom>
          <a:noFill/>
          <a:ln>
            <a:noFill/>
          </a:ln>
        </p:spPr>
        <p:txBody>
          <a:bodyPr wrap="square" anchor="t">
            <a:spAutoFit/>
          </a:bodyPr>
          <a:lstStyle/>
          <a:p>
            <a:pPr algn="l">
              <a:spcBef>
                <a:spcPts val="0"/>
              </a:spcBef>
              <a:spcAft>
                <a:spcPts val="0"/>
              </a:spcAft>
            </a:pPr>
            <a:r>
              <a:rPr sz="1900" b="0" i="0">
                <a:solidFill>
                  <a:srgbClr val="A6AFBD"/>
                </a:solidFill>
                <a:latin typeface="Segoe UI"/>
              </a:rPr>
              <a:t>How the app was created</a:t>
            </a:r>
          </a:p>
        </p:txBody>
      </p:sp>
      <p:sp>
        <p:nvSpPr>
          <p:cNvPr id="7" name="TextBox 6"/>
          <p:cNvSpPr txBox="1"/>
          <p:nvPr/>
        </p:nvSpPr>
        <p:spPr>
          <a:xfrm>
            <a:off x="914400" y="3456432"/>
            <a:ext cx="4754880" cy="640080"/>
          </a:xfrm>
          <a:prstGeom prst="rect">
            <a:avLst/>
          </a:prstGeom>
          <a:noFill/>
          <a:ln>
            <a:noFill/>
          </a:ln>
        </p:spPr>
        <p:txBody>
          <a:bodyPr wrap="square" anchor="t">
            <a:spAutoFit/>
          </a:bodyPr>
          <a:lstStyle/>
          <a:p>
            <a:pPr algn="l">
              <a:spcBef>
                <a:spcPts val="0"/>
              </a:spcBef>
              <a:spcAft>
                <a:spcPts val="0"/>
              </a:spcAft>
            </a:pPr>
            <a:r>
              <a:rPr sz="1600" b="0" i="0">
                <a:solidFill>
                  <a:srgbClr val="F5F7FA"/>
                </a:solidFill>
                <a:latin typeface="Segoe UI"/>
              </a:rPr>
              <a:t>Jetpack Compose launcher inspired by Windows Phone Metro UI</a:t>
            </a:r>
          </a:p>
        </p:txBody>
      </p:sp>
      <p:sp>
        <p:nvSpPr>
          <p:cNvPr id="8" name="Rounded Rectangle 7"/>
          <p:cNvSpPr/>
          <p:nvPr/>
        </p:nvSpPr>
        <p:spPr>
          <a:xfrm>
            <a:off x="914400" y="4343400"/>
            <a:ext cx="1417320" cy="329184"/>
          </a:xfrm>
          <a:prstGeom prst="round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4361688"/>
            <a:ext cx="1417320" cy="292608"/>
          </a:xfrm>
          <a:prstGeom prst="rect">
            <a:avLst/>
          </a:prstGeom>
          <a:noFill/>
          <a:ln>
            <a:noFill/>
          </a:ln>
        </p:spPr>
        <p:txBody>
          <a:bodyPr wrap="square" anchor="ctr">
            <a:spAutoFit/>
          </a:bodyPr>
          <a:lstStyle/>
          <a:p>
            <a:pPr algn="ctr">
              <a:spcBef>
                <a:spcPts val="0"/>
              </a:spcBef>
              <a:spcAft>
                <a:spcPts val="0"/>
              </a:spcAft>
            </a:pPr>
            <a:r>
              <a:rPr sz="1200" b="1" i="0">
                <a:solidFill>
                  <a:srgbClr val="FFFFFF"/>
                </a:solidFill>
                <a:latin typeface="Segoe UI"/>
              </a:rPr>
              <a:t>Compose</a:t>
            </a:r>
          </a:p>
        </p:txBody>
      </p:sp>
      <p:sp>
        <p:nvSpPr>
          <p:cNvPr id="10" name="Rounded Rectangle 9"/>
          <p:cNvSpPr/>
          <p:nvPr/>
        </p:nvSpPr>
        <p:spPr>
          <a:xfrm>
            <a:off x="2487168" y="4343400"/>
            <a:ext cx="868680" cy="329184"/>
          </a:xfrm>
          <a:prstGeom prst="roundRect">
            <a:avLst/>
          </a:prstGeom>
          <a:solidFill>
            <a:srgbClr val="0F5BB5"/>
          </a:solidFill>
          <a:ln>
            <a:solidFill>
              <a:srgbClr val="0F5BB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487168" y="4361688"/>
            <a:ext cx="868680" cy="292608"/>
          </a:xfrm>
          <a:prstGeom prst="rect">
            <a:avLst/>
          </a:prstGeom>
          <a:noFill/>
          <a:ln>
            <a:noFill/>
          </a:ln>
        </p:spPr>
        <p:txBody>
          <a:bodyPr wrap="square" anchor="ctr">
            <a:spAutoFit/>
          </a:bodyPr>
          <a:lstStyle/>
          <a:p>
            <a:pPr algn="ctr">
              <a:spcBef>
                <a:spcPts val="0"/>
              </a:spcBef>
              <a:spcAft>
                <a:spcPts val="0"/>
              </a:spcAft>
            </a:pPr>
            <a:r>
              <a:rPr sz="1200" b="1" i="0">
                <a:solidFill>
                  <a:srgbClr val="FFFFFF"/>
                </a:solidFill>
                <a:latin typeface="Segoe UI"/>
              </a:rPr>
              <a:t>Hilt</a:t>
            </a:r>
          </a:p>
        </p:txBody>
      </p:sp>
      <p:sp>
        <p:nvSpPr>
          <p:cNvPr id="12" name="Rounded Rectangle 11"/>
          <p:cNvSpPr/>
          <p:nvPr/>
        </p:nvSpPr>
        <p:spPr>
          <a:xfrm>
            <a:off x="3474720" y="4343400"/>
            <a:ext cx="1280160" cy="329184"/>
          </a:xfrm>
          <a:prstGeom prst="roundRect">
            <a:avLst/>
          </a:prstGeom>
          <a:solidFill>
            <a:srgbClr val="1E6DD1"/>
          </a:solidFill>
          <a:ln>
            <a:solidFill>
              <a:srgbClr val="1E6DD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74720" y="4361688"/>
            <a:ext cx="1280160" cy="292608"/>
          </a:xfrm>
          <a:prstGeom prst="rect">
            <a:avLst/>
          </a:prstGeom>
          <a:noFill/>
          <a:ln>
            <a:noFill/>
          </a:ln>
        </p:spPr>
        <p:txBody>
          <a:bodyPr wrap="square" anchor="ctr">
            <a:spAutoFit/>
          </a:bodyPr>
          <a:lstStyle/>
          <a:p>
            <a:pPr algn="ctr">
              <a:spcBef>
                <a:spcPts val="0"/>
              </a:spcBef>
              <a:spcAft>
                <a:spcPts val="0"/>
              </a:spcAft>
            </a:pPr>
            <a:r>
              <a:rPr sz="1200" b="1" i="0">
                <a:solidFill>
                  <a:srgbClr val="FFFFFF"/>
                </a:solidFill>
                <a:latin typeface="Segoe UI"/>
              </a:rPr>
              <a:t>DataStore</a:t>
            </a:r>
          </a:p>
        </p:txBody>
      </p:sp>
      <p:sp>
        <p:nvSpPr>
          <p:cNvPr id="14" name="Rounded Rectangle 13"/>
          <p:cNvSpPr/>
          <p:nvPr/>
        </p:nvSpPr>
        <p:spPr>
          <a:xfrm>
            <a:off x="4892040" y="4343400"/>
            <a:ext cx="1097280" cy="329184"/>
          </a:xfrm>
          <a:prstGeom prst="roundRect">
            <a:avLst/>
          </a:prstGeom>
          <a:solidFill>
            <a:srgbClr val="2D3642"/>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892040" y="4361688"/>
            <a:ext cx="1097280" cy="292608"/>
          </a:xfrm>
          <a:prstGeom prst="rect">
            <a:avLst/>
          </a:prstGeom>
          <a:noFill/>
          <a:ln>
            <a:noFill/>
          </a:ln>
        </p:spPr>
        <p:txBody>
          <a:bodyPr wrap="square" anchor="ctr">
            <a:spAutoFit/>
          </a:bodyPr>
          <a:lstStyle/>
          <a:p>
            <a:pPr algn="ctr">
              <a:spcBef>
                <a:spcPts val="0"/>
              </a:spcBef>
              <a:spcAft>
                <a:spcPts val="0"/>
              </a:spcAft>
            </a:pPr>
            <a:r>
              <a:rPr sz="1200" b="1" i="0">
                <a:solidFill>
                  <a:srgbClr val="FFFFFF"/>
                </a:solidFill>
                <a:latin typeface="Segoe UI"/>
              </a:rPr>
              <a:t>Launcher</a:t>
            </a:r>
          </a:p>
        </p:txBody>
      </p:sp>
      <p:sp>
        <p:nvSpPr>
          <p:cNvPr id="16" name="TextBox 15"/>
          <p:cNvSpPr txBox="1"/>
          <p:nvPr/>
        </p:nvSpPr>
        <p:spPr>
          <a:xfrm>
            <a:off x="914400" y="4956048"/>
            <a:ext cx="438912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Alpha build for Android 10+ with a 6-column tile grid, edit mode, app list, and customization screens.</a:t>
            </a:r>
          </a:p>
        </p:txBody>
      </p:sp>
      <p:sp>
        <p:nvSpPr>
          <p:cNvPr id="17" name="Rounded Rectangle 16"/>
          <p:cNvSpPr/>
          <p:nvPr/>
        </p:nvSpPr>
        <p:spPr>
          <a:xfrm>
            <a:off x="6583680" y="685800"/>
            <a:ext cx="4846320" cy="557784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tart-screen.png"/>
          <p:cNvPicPr>
            <a:picLocks noChangeAspect="1"/>
          </p:cNvPicPr>
          <p:nvPr/>
        </p:nvPicPr>
        <p:blipFill>
          <a:blip r:embed="rId2"/>
          <a:stretch>
            <a:fillRect/>
          </a:stretch>
        </p:blipFill>
        <p:spPr>
          <a:xfrm>
            <a:off x="7809433" y="813816"/>
            <a:ext cx="2394813" cy="5321807"/>
          </a:xfrm>
          <a:prstGeom prst="rect">
            <a:avLst/>
          </a:prstGeom>
        </p:spPr>
      </p:pic>
      <p:sp>
        <p:nvSpPr>
          <p:cNvPr id="19" name="TextBox 18"/>
          <p:cNvSpPr txBox="1"/>
          <p:nvPr/>
        </p:nvSpPr>
        <p:spPr>
          <a:xfrm>
            <a:off x="6812280" y="6355080"/>
            <a:ext cx="4389120" cy="201168"/>
          </a:xfrm>
          <a:prstGeom prst="rect">
            <a:avLst/>
          </a:prstGeom>
          <a:noFill/>
          <a:ln>
            <a:noFill/>
          </a:ln>
        </p:spPr>
        <p:txBody>
          <a:bodyPr wrap="square" anchor="t">
            <a:spAutoFit/>
          </a:bodyPr>
          <a:lstStyle/>
          <a:p>
            <a:pPr algn="l">
              <a:spcBef>
                <a:spcPts val="0"/>
              </a:spcBef>
              <a:spcAft>
                <a:spcPts val="0"/>
              </a:spcAft>
            </a:pPr>
            <a:r>
              <a:rPr sz="1000" b="0" i="0">
                <a:solidFill>
                  <a:srgbClr val="6F7A8A"/>
                </a:solidFill>
                <a:latin typeface="Segoe UI"/>
              </a:rPr>
              <a:t>Start screen preview from the running app</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PROBLEM AND MOTIVATION</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Why this app exists</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idea came from a gap in the Android launcher market.</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2</a:t>
            </a:r>
          </a:p>
        </p:txBody>
      </p:sp>
      <p:sp>
        <p:nvSpPr>
          <p:cNvPr id="7" name="Rounded Rectangle 6"/>
          <p:cNvSpPr/>
          <p:nvPr/>
        </p:nvSpPr>
        <p:spPr>
          <a:xfrm>
            <a:off x="731520" y="1417320"/>
            <a:ext cx="5257800" cy="201168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17320"/>
            <a:ext cx="73152" cy="201168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63624"/>
            <a:ext cx="492861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The gap</a:t>
            </a:r>
          </a:p>
        </p:txBody>
      </p:sp>
      <p:sp>
        <p:nvSpPr>
          <p:cNvPr id="10" name="TextBox 9"/>
          <p:cNvSpPr txBox="1"/>
          <p:nvPr/>
        </p:nvSpPr>
        <p:spPr>
          <a:xfrm>
            <a:off x="932688" y="1929384"/>
            <a:ext cx="4910328" cy="135331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Windows Phone Metro UI is still distinctive and remembered fondly.</a:t>
            </a:r>
          </a:p>
          <a:p>
            <a:pPr algn="l">
              <a:spcBef>
                <a:spcPts val="0"/>
              </a:spcBef>
              <a:spcAft>
                <a:spcPts val="0"/>
              </a:spcAft>
            </a:pPr>
            <a:r>
              <a:rPr sz="1200" b="0" i="0">
                <a:solidFill>
                  <a:srgbClr val="A6AFBD"/>
                </a:solidFill>
                <a:latin typeface="Segoe UI"/>
              </a:rPr>
              <a:t>- Most Android launchers copy the same icon-grid pattern.</a:t>
            </a:r>
          </a:p>
          <a:p>
            <a:pPr algn="l">
              <a:spcBef>
                <a:spcPts val="0"/>
              </a:spcBef>
              <a:spcAft>
                <a:spcPts val="0"/>
              </a:spcAft>
            </a:pPr>
            <a:r>
              <a:rPr sz="1200" b="0" i="0">
                <a:solidFill>
                  <a:srgbClr val="A6AFBD"/>
                </a:solidFill>
                <a:latin typeface="Segoe UI"/>
              </a:rPr>
              <a:t>- Existing Metro-style launchers are usually abandoned or inaccurate.</a:t>
            </a:r>
          </a:p>
        </p:txBody>
      </p:sp>
      <p:sp>
        <p:nvSpPr>
          <p:cNvPr id="11" name="Rounded Rectangle 10"/>
          <p:cNvSpPr/>
          <p:nvPr/>
        </p:nvSpPr>
        <p:spPr>
          <a:xfrm>
            <a:off x="731520" y="3657600"/>
            <a:ext cx="5257800" cy="201168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31520" y="3657600"/>
            <a:ext cx="73152" cy="201168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32688" y="3803904"/>
            <a:ext cx="492861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The goal</a:t>
            </a:r>
          </a:p>
        </p:txBody>
      </p:sp>
      <p:sp>
        <p:nvSpPr>
          <p:cNvPr id="14" name="TextBox 13"/>
          <p:cNvSpPr txBox="1"/>
          <p:nvPr/>
        </p:nvSpPr>
        <p:spPr>
          <a:xfrm>
            <a:off x="932688" y="4169664"/>
            <a:ext cx="4910328" cy="135331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Build a launcher that feels faithful, modern, and maintainable.</a:t>
            </a:r>
          </a:p>
          <a:p>
            <a:pPr algn="l">
              <a:spcBef>
                <a:spcPts val="0"/>
              </a:spcBef>
              <a:spcAft>
                <a:spcPts val="0"/>
              </a:spcAft>
            </a:pPr>
            <a:r>
              <a:rPr sz="1200" b="0" i="0">
                <a:solidFill>
                  <a:srgbClr val="A6AFBD"/>
                </a:solidFill>
                <a:latin typeface="Segoe UI"/>
              </a:rPr>
              <a:t>- Support real customization: tile size, transparency, colors, and layout.</a:t>
            </a:r>
          </a:p>
          <a:p>
            <a:pPr algn="l">
              <a:spcBef>
                <a:spcPts val="0"/>
              </a:spcBef>
              <a:spcAft>
                <a:spcPts val="0"/>
              </a:spcAft>
            </a:pPr>
            <a:r>
              <a:rPr sz="1200" b="0" i="0">
                <a:solidFill>
                  <a:srgbClr val="A6AFBD"/>
                </a:solidFill>
                <a:latin typeface="Segoe UI"/>
              </a:rPr>
              <a:t>- Use modern Android architecture instead of a one-off UI demo.</a:t>
            </a:r>
          </a:p>
        </p:txBody>
      </p:sp>
      <p:sp>
        <p:nvSpPr>
          <p:cNvPr id="15" name="Rounded Rectangle 14"/>
          <p:cNvSpPr/>
          <p:nvPr/>
        </p:nvSpPr>
        <p:spPr>
          <a:xfrm>
            <a:off x="6263640" y="1417320"/>
            <a:ext cx="5166360" cy="429768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263640" y="1417320"/>
            <a:ext cx="73152" cy="429768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64807" y="1563624"/>
            <a:ext cx="483717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Product intent</a:t>
            </a:r>
          </a:p>
        </p:txBody>
      </p:sp>
      <p:sp>
        <p:nvSpPr>
          <p:cNvPr id="18" name="TextBox 17"/>
          <p:cNvSpPr txBox="1"/>
          <p:nvPr/>
        </p:nvSpPr>
        <p:spPr>
          <a:xfrm>
            <a:off x="6464807" y="1929384"/>
            <a:ext cx="4818888" cy="363931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A home-screen replacement registered as HOME + LAUNCHER.</a:t>
            </a:r>
          </a:p>
          <a:p>
            <a:pPr algn="l">
              <a:spcBef>
                <a:spcPts val="0"/>
              </a:spcBef>
              <a:spcAft>
                <a:spcPts val="0"/>
              </a:spcAft>
            </a:pPr>
            <a:r>
              <a:rPr sz="1200" b="0" i="0">
                <a:solidFill>
                  <a:srgbClr val="A6AFBD"/>
                </a:solidFill>
                <a:latin typeface="Segoe UI"/>
              </a:rPr>
              <a:t>- A vertically scrolling 6-column Start screen with resizable tiles.</a:t>
            </a:r>
          </a:p>
          <a:p>
            <a:pPr algn="l">
              <a:spcBef>
                <a:spcPts val="0"/>
              </a:spcBef>
              <a:spcAft>
                <a:spcPts val="0"/>
              </a:spcAft>
            </a:pPr>
            <a:r>
              <a:rPr sz="1200" b="0" i="0">
                <a:solidFill>
                  <a:srgbClr val="A6AFBD"/>
                </a:solidFill>
                <a:latin typeface="Segoe UI"/>
              </a:rPr>
              <a:t>- An alphabetical app list with search and pin-to-start flows.</a:t>
            </a:r>
          </a:p>
          <a:p>
            <a:pPr algn="l">
              <a:spcBef>
                <a:spcPts val="0"/>
              </a:spcBef>
              <a:spcAft>
                <a:spcPts val="0"/>
              </a:spcAft>
            </a:pPr>
            <a:r>
              <a:rPr sz="1200" b="0" i="0">
                <a:solidFill>
                  <a:srgbClr val="A6AFBD"/>
                </a:solidFill>
                <a:latin typeface="Segoe UI"/>
              </a:rPr>
              <a:t>- A settings surface for accent color, glass bevel, and opacity.</a:t>
            </a:r>
          </a:p>
          <a:p>
            <a:pPr algn="l">
              <a:spcBef>
                <a:spcPts val="0"/>
              </a:spcBef>
              <a:spcAft>
                <a:spcPts val="0"/>
              </a:spcAft>
            </a:pPr>
            <a:r>
              <a:rPr sz="1200" b="0" i="0">
                <a:solidFill>
                  <a:srgbClr val="A6AFBD"/>
                </a:solidFill>
                <a:latin typeface="Segoe UI"/>
              </a:rPr>
              <a:t>- A path toward live tiles, persistence, and future widget integration.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IMPLEMENTATION PATH</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From PRD to alpha</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build sequence was intentionally narrow: define the core experience first, then polish it.</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3</a:t>
            </a:r>
          </a:p>
        </p:txBody>
      </p:sp>
      <p:sp>
        <p:nvSpPr>
          <p:cNvPr id="7" name="Rounded Rectangle 6"/>
          <p:cNvSpPr/>
          <p:nvPr/>
        </p:nvSpPr>
        <p:spPr>
          <a:xfrm>
            <a:off x="822960" y="1417320"/>
            <a:ext cx="10652760" cy="749808"/>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969264" y="1554480"/>
            <a:ext cx="457200" cy="457200"/>
          </a:xfrm>
          <a:prstGeom prst="ellipse">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9264" y="1581912"/>
            <a:ext cx="457200" cy="274320"/>
          </a:xfrm>
          <a:prstGeom prst="rect">
            <a:avLst/>
          </a:prstGeom>
          <a:noFill/>
          <a:ln>
            <a:noFill/>
          </a:ln>
        </p:spPr>
        <p:txBody>
          <a:bodyPr wrap="square" anchor="t">
            <a:spAutoFit/>
          </a:bodyPr>
          <a:lstStyle/>
          <a:p>
            <a:pPr algn="ctr">
              <a:spcBef>
                <a:spcPts val="0"/>
              </a:spcBef>
              <a:spcAft>
                <a:spcPts val="0"/>
              </a:spcAft>
            </a:pPr>
            <a:r>
              <a:rPr sz="1400" b="1" i="0">
                <a:solidFill>
                  <a:srgbClr val="FFFFFF"/>
                </a:solidFill>
                <a:latin typeface="Segoe UI"/>
              </a:rPr>
              <a:t>1</a:t>
            </a:r>
          </a:p>
        </p:txBody>
      </p:sp>
      <p:sp>
        <p:nvSpPr>
          <p:cNvPr id="10" name="TextBox 9"/>
          <p:cNvSpPr txBox="1"/>
          <p:nvPr/>
        </p:nvSpPr>
        <p:spPr>
          <a:xfrm>
            <a:off x="1627632" y="1508760"/>
            <a:ext cx="4389120" cy="182880"/>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Translate the PRD into a small alpha scope</a:t>
            </a:r>
          </a:p>
        </p:txBody>
      </p:sp>
      <p:sp>
        <p:nvSpPr>
          <p:cNvPr id="11" name="TextBox 10"/>
          <p:cNvSpPr txBox="1"/>
          <p:nvPr/>
        </p:nvSpPr>
        <p:spPr>
          <a:xfrm>
            <a:off x="1627632" y="1737360"/>
            <a:ext cx="9052560" cy="2286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Focus on the Start screen, app list, edit mode, and settings.</a:t>
            </a:r>
          </a:p>
        </p:txBody>
      </p:sp>
      <p:sp>
        <p:nvSpPr>
          <p:cNvPr id="12" name="Rounded Rectangle 11"/>
          <p:cNvSpPr/>
          <p:nvPr/>
        </p:nvSpPr>
        <p:spPr>
          <a:xfrm>
            <a:off x="822960" y="2286000"/>
            <a:ext cx="10652760" cy="749808"/>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969264" y="2423160"/>
            <a:ext cx="457200" cy="457200"/>
          </a:xfrm>
          <a:prstGeom prst="ellipse">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9264" y="2450592"/>
            <a:ext cx="457200" cy="274320"/>
          </a:xfrm>
          <a:prstGeom prst="rect">
            <a:avLst/>
          </a:prstGeom>
          <a:noFill/>
          <a:ln>
            <a:noFill/>
          </a:ln>
        </p:spPr>
        <p:txBody>
          <a:bodyPr wrap="square" anchor="t">
            <a:spAutoFit/>
          </a:bodyPr>
          <a:lstStyle/>
          <a:p>
            <a:pPr algn="ctr">
              <a:spcBef>
                <a:spcPts val="0"/>
              </a:spcBef>
              <a:spcAft>
                <a:spcPts val="0"/>
              </a:spcAft>
            </a:pPr>
            <a:r>
              <a:rPr sz="1400" b="1" i="0">
                <a:solidFill>
                  <a:srgbClr val="FFFFFF"/>
                </a:solidFill>
                <a:latin typeface="Segoe UI"/>
              </a:rPr>
              <a:t>2</a:t>
            </a:r>
          </a:p>
        </p:txBody>
      </p:sp>
      <p:sp>
        <p:nvSpPr>
          <p:cNvPr id="15" name="TextBox 14"/>
          <p:cNvSpPr txBox="1"/>
          <p:nvPr/>
        </p:nvSpPr>
        <p:spPr>
          <a:xfrm>
            <a:off x="1627632" y="2377440"/>
            <a:ext cx="4389120" cy="182880"/>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Choose a modern stack</a:t>
            </a:r>
          </a:p>
        </p:txBody>
      </p:sp>
      <p:sp>
        <p:nvSpPr>
          <p:cNvPr id="16" name="TextBox 15"/>
          <p:cNvSpPr txBox="1"/>
          <p:nvPr/>
        </p:nvSpPr>
        <p:spPr>
          <a:xfrm>
            <a:off x="1627632" y="2606040"/>
            <a:ext cx="9052560" cy="2286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Kotlin, Jetpack Compose, Hilt, DataStore, Room, and Gradle Kotlin DSL.</a:t>
            </a:r>
          </a:p>
        </p:txBody>
      </p:sp>
      <p:sp>
        <p:nvSpPr>
          <p:cNvPr id="17" name="Rounded Rectangle 16"/>
          <p:cNvSpPr/>
          <p:nvPr/>
        </p:nvSpPr>
        <p:spPr>
          <a:xfrm>
            <a:off x="822960" y="3154680"/>
            <a:ext cx="10652760" cy="749808"/>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969264" y="3291840"/>
            <a:ext cx="457200" cy="457200"/>
          </a:xfrm>
          <a:prstGeom prst="ellipse">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69264" y="3319272"/>
            <a:ext cx="457200" cy="274320"/>
          </a:xfrm>
          <a:prstGeom prst="rect">
            <a:avLst/>
          </a:prstGeom>
          <a:noFill/>
          <a:ln>
            <a:noFill/>
          </a:ln>
        </p:spPr>
        <p:txBody>
          <a:bodyPr wrap="square" anchor="t">
            <a:spAutoFit/>
          </a:bodyPr>
          <a:lstStyle/>
          <a:p>
            <a:pPr algn="ctr">
              <a:spcBef>
                <a:spcPts val="0"/>
              </a:spcBef>
              <a:spcAft>
                <a:spcPts val="0"/>
              </a:spcAft>
            </a:pPr>
            <a:r>
              <a:rPr sz="1400" b="1" i="0">
                <a:solidFill>
                  <a:srgbClr val="FFFFFF"/>
                </a:solidFill>
                <a:latin typeface="Segoe UI"/>
              </a:rPr>
              <a:t>3</a:t>
            </a:r>
          </a:p>
        </p:txBody>
      </p:sp>
      <p:sp>
        <p:nvSpPr>
          <p:cNvPr id="20" name="TextBox 19"/>
          <p:cNvSpPr txBox="1"/>
          <p:nvPr/>
        </p:nvSpPr>
        <p:spPr>
          <a:xfrm>
            <a:off x="1627632" y="3246120"/>
            <a:ext cx="4389120" cy="182880"/>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Build the launcher shell</a:t>
            </a:r>
          </a:p>
        </p:txBody>
      </p:sp>
      <p:sp>
        <p:nvSpPr>
          <p:cNvPr id="21" name="TextBox 20"/>
          <p:cNvSpPr txBox="1"/>
          <p:nvPr/>
        </p:nvSpPr>
        <p:spPr>
          <a:xfrm>
            <a:off x="1627632" y="3474720"/>
            <a:ext cx="9052560" cy="2286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Register the activity as HOME + LAUNCHER and add edge-to-edge layout.</a:t>
            </a:r>
          </a:p>
        </p:txBody>
      </p:sp>
      <p:sp>
        <p:nvSpPr>
          <p:cNvPr id="22" name="Rounded Rectangle 21"/>
          <p:cNvSpPr/>
          <p:nvPr/>
        </p:nvSpPr>
        <p:spPr>
          <a:xfrm>
            <a:off x="822960" y="4023360"/>
            <a:ext cx="10652760" cy="749808"/>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969264" y="4160520"/>
            <a:ext cx="457200" cy="457200"/>
          </a:xfrm>
          <a:prstGeom prst="ellipse">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9264" y="4187952"/>
            <a:ext cx="457200" cy="274320"/>
          </a:xfrm>
          <a:prstGeom prst="rect">
            <a:avLst/>
          </a:prstGeom>
          <a:noFill/>
          <a:ln>
            <a:noFill/>
          </a:ln>
        </p:spPr>
        <p:txBody>
          <a:bodyPr wrap="square" anchor="t">
            <a:spAutoFit/>
          </a:bodyPr>
          <a:lstStyle/>
          <a:p>
            <a:pPr algn="ctr">
              <a:spcBef>
                <a:spcPts val="0"/>
              </a:spcBef>
              <a:spcAft>
                <a:spcPts val="0"/>
              </a:spcAft>
            </a:pPr>
            <a:r>
              <a:rPr sz="1400" b="1" i="0">
                <a:solidFill>
                  <a:srgbClr val="FFFFFF"/>
                </a:solidFill>
                <a:latin typeface="Segoe UI"/>
              </a:rPr>
              <a:t>4</a:t>
            </a:r>
          </a:p>
        </p:txBody>
      </p:sp>
      <p:sp>
        <p:nvSpPr>
          <p:cNvPr id="25" name="TextBox 24"/>
          <p:cNvSpPr txBox="1"/>
          <p:nvPr/>
        </p:nvSpPr>
        <p:spPr>
          <a:xfrm>
            <a:off x="1627632" y="4114800"/>
            <a:ext cx="4389120" cy="182880"/>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Implement the tile engine</a:t>
            </a:r>
          </a:p>
        </p:txBody>
      </p:sp>
      <p:sp>
        <p:nvSpPr>
          <p:cNvPr id="26" name="TextBox 25"/>
          <p:cNvSpPr txBox="1"/>
          <p:nvPr/>
        </p:nvSpPr>
        <p:spPr>
          <a:xfrm>
            <a:off x="1627632" y="4343400"/>
            <a:ext cx="9052560" cy="2286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Layout tiles on a 6-column grid with resize and drag behavior.</a:t>
            </a:r>
          </a:p>
        </p:txBody>
      </p:sp>
      <p:sp>
        <p:nvSpPr>
          <p:cNvPr id="27" name="Rounded Rectangle 26"/>
          <p:cNvSpPr/>
          <p:nvPr/>
        </p:nvSpPr>
        <p:spPr>
          <a:xfrm>
            <a:off x="822960" y="4892040"/>
            <a:ext cx="10652760" cy="749808"/>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69264" y="5029200"/>
            <a:ext cx="457200" cy="457200"/>
          </a:xfrm>
          <a:prstGeom prst="ellipse">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69264" y="5056632"/>
            <a:ext cx="457200" cy="274320"/>
          </a:xfrm>
          <a:prstGeom prst="rect">
            <a:avLst/>
          </a:prstGeom>
          <a:noFill/>
          <a:ln>
            <a:noFill/>
          </a:ln>
        </p:spPr>
        <p:txBody>
          <a:bodyPr wrap="square" anchor="t">
            <a:spAutoFit/>
          </a:bodyPr>
          <a:lstStyle/>
          <a:p>
            <a:pPr algn="ctr">
              <a:spcBef>
                <a:spcPts val="0"/>
              </a:spcBef>
              <a:spcAft>
                <a:spcPts val="0"/>
              </a:spcAft>
            </a:pPr>
            <a:r>
              <a:rPr sz="1400" b="1" i="0">
                <a:solidFill>
                  <a:srgbClr val="FFFFFF"/>
                </a:solidFill>
                <a:latin typeface="Segoe UI"/>
              </a:rPr>
              <a:t>5</a:t>
            </a:r>
          </a:p>
        </p:txBody>
      </p:sp>
      <p:sp>
        <p:nvSpPr>
          <p:cNvPr id="30" name="TextBox 29"/>
          <p:cNvSpPr txBox="1"/>
          <p:nvPr/>
        </p:nvSpPr>
        <p:spPr>
          <a:xfrm>
            <a:off x="1627632" y="4983480"/>
            <a:ext cx="4389120" cy="182880"/>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Validate on-device</a:t>
            </a:r>
          </a:p>
        </p:txBody>
      </p:sp>
      <p:sp>
        <p:nvSpPr>
          <p:cNvPr id="31" name="TextBox 30"/>
          <p:cNvSpPr txBox="1"/>
          <p:nvPr/>
        </p:nvSpPr>
        <p:spPr>
          <a:xfrm>
            <a:off x="1627632" y="5212080"/>
            <a:ext cx="9052560" cy="2286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Install to an emulator, inspect screenshots, and iterate on spacing and behavior.</a:t>
            </a:r>
          </a:p>
        </p:txBody>
      </p:sp>
      <p:sp>
        <p:nvSpPr>
          <p:cNvPr id="32" name="Rounded Rectangle 31"/>
          <p:cNvSpPr/>
          <p:nvPr/>
        </p:nvSpPr>
        <p:spPr>
          <a:xfrm>
            <a:off x="7406640" y="5486400"/>
            <a:ext cx="3931920" cy="713232"/>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406640" y="5486400"/>
            <a:ext cx="73152" cy="713232"/>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19" y="5614416"/>
            <a:ext cx="365760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Alpha scope</a:t>
            </a:r>
          </a:p>
        </p:txBody>
      </p:sp>
      <p:sp>
        <p:nvSpPr>
          <p:cNvPr id="35" name="TextBox 34"/>
          <p:cNvSpPr txBox="1"/>
          <p:nvPr/>
        </p:nvSpPr>
        <p:spPr>
          <a:xfrm>
            <a:off x="7589519" y="5879592"/>
            <a:ext cx="3639312" cy="237744"/>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The first release focused on a believable launcher loop instead of every Metro feature from the PRD.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DATA FLOW AND CONTROL SURFACES</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Architecture</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app is organized around a simple flow: discover apps, store tile state, and render it in Compose.</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4</a:t>
            </a:r>
          </a:p>
        </p:txBody>
      </p:sp>
      <p:sp>
        <p:nvSpPr>
          <p:cNvPr id="7" name="Rounded Rectangle 6"/>
          <p:cNvSpPr/>
          <p:nvPr/>
        </p:nvSpPr>
        <p:spPr>
          <a:xfrm>
            <a:off x="822960" y="1783080"/>
            <a:ext cx="2011680" cy="6858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32688" y="1856231"/>
            <a:ext cx="1792224" cy="164592"/>
          </a:xfrm>
          <a:prstGeom prst="rect">
            <a:avLst/>
          </a:prstGeom>
          <a:noFill/>
          <a:ln>
            <a:noFill/>
          </a:ln>
        </p:spPr>
        <p:txBody>
          <a:bodyPr wrap="square" anchor="t">
            <a:spAutoFit/>
          </a:bodyPr>
          <a:lstStyle/>
          <a:p>
            <a:pPr algn="ctr">
              <a:spcBef>
                <a:spcPts val="0"/>
              </a:spcBef>
              <a:spcAft>
                <a:spcPts val="0"/>
              </a:spcAft>
            </a:pPr>
            <a:r>
              <a:rPr sz="1300" b="1" i="0">
                <a:solidFill>
                  <a:srgbClr val="FFFFFF"/>
                </a:solidFill>
                <a:latin typeface="Segoe UI"/>
              </a:rPr>
              <a:t>Installed apps</a:t>
            </a:r>
          </a:p>
        </p:txBody>
      </p:sp>
      <p:sp>
        <p:nvSpPr>
          <p:cNvPr id="9" name="TextBox 8"/>
          <p:cNvSpPr txBox="1"/>
          <p:nvPr/>
        </p:nvSpPr>
        <p:spPr>
          <a:xfrm>
            <a:off x="932688" y="2093976"/>
            <a:ext cx="1792224" cy="146304"/>
          </a:xfrm>
          <a:prstGeom prst="rect">
            <a:avLst/>
          </a:prstGeom>
          <a:noFill/>
          <a:ln>
            <a:noFill/>
          </a:ln>
        </p:spPr>
        <p:txBody>
          <a:bodyPr wrap="square" anchor="t">
            <a:spAutoFit/>
          </a:bodyPr>
          <a:lstStyle/>
          <a:p>
            <a:pPr algn="ctr">
              <a:spcBef>
                <a:spcPts val="0"/>
              </a:spcBef>
              <a:spcAft>
                <a:spcPts val="0"/>
              </a:spcAft>
            </a:pPr>
            <a:r>
              <a:rPr sz="900" b="0" i="0">
                <a:solidFill>
                  <a:srgbClr val="A6AFBD"/>
                </a:solidFill>
                <a:latin typeface="Segoe UI"/>
              </a:rPr>
              <a:t>PackageManager / LauncherApps</a:t>
            </a:r>
          </a:p>
        </p:txBody>
      </p:sp>
      <p:sp>
        <p:nvSpPr>
          <p:cNvPr id="10" name="Rounded Rectangle 9"/>
          <p:cNvSpPr/>
          <p:nvPr/>
        </p:nvSpPr>
        <p:spPr>
          <a:xfrm>
            <a:off x="3154680" y="1783080"/>
            <a:ext cx="2011680" cy="6858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264408" y="1856231"/>
            <a:ext cx="1792224" cy="164592"/>
          </a:xfrm>
          <a:prstGeom prst="rect">
            <a:avLst/>
          </a:prstGeom>
          <a:noFill/>
          <a:ln>
            <a:noFill/>
          </a:ln>
        </p:spPr>
        <p:txBody>
          <a:bodyPr wrap="square" anchor="t">
            <a:spAutoFit/>
          </a:bodyPr>
          <a:lstStyle/>
          <a:p>
            <a:pPr algn="ctr">
              <a:spcBef>
                <a:spcPts val="0"/>
              </a:spcBef>
              <a:spcAft>
                <a:spcPts val="0"/>
              </a:spcAft>
            </a:pPr>
            <a:r>
              <a:rPr sz="1300" b="1" i="0">
                <a:solidFill>
                  <a:srgbClr val="FFFFFF"/>
                </a:solidFill>
                <a:latin typeface="Segoe UI"/>
              </a:rPr>
              <a:t>Repositories</a:t>
            </a:r>
          </a:p>
        </p:txBody>
      </p:sp>
      <p:sp>
        <p:nvSpPr>
          <p:cNvPr id="12" name="TextBox 11"/>
          <p:cNvSpPr txBox="1"/>
          <p:nvPr/>
        </p:nvSpPr>
        <p:spPr>
          <a:xfrm>
            <a:off x="3264408" y="2093976"/>
            <a:ext cx="1792224" cy="146304"/>
          </a:xfrm>
          <a:prstGeom prst="rect">
            <a:avLst/>
          </a:prstGeom>
          <a:noFill/>
          <a:ln>
            <a:noFill/>
          </a:ln>
        </p:spPr>
        <p:txBody>
          <a:bodyPr wrap="square" anchor="t">
            <a:spAutoFit/>
          </a:bodyPr>
          <a:lstStyle/>
          <a:p>
            <a:pPr algn="ctr">
              <a:spcBef>
                <a:spcPts val="0"/>
              </a:spcBef>
              <a:spcAft>
                <a:spcPts val="0"/>
              </a:spcAft>
            </a:pPr>
            <a:r>
              <a:rPr sz="900" b="0" i="0">
                <a:solidFill>
                  <a:srgbClr val="A6AFBD"/>
                </a:solidFill>
                <a:latin typeface="Segoe UI"/>
              </a:rPr>
              <a:t>App discovery and tile data</a:t>
            </a:r>
          </a:p>
        </p:txBody>
      </p:sp>
      <p:sp>
        <p:nvSpPr>
          <p:cNvPr id="13" name="Rounded Rectangle 12"/>
          <p:cNvSpPr/>
          <p:nvPr/>
        </p:nvSpPr>
        <p:spPr>
          <a:xfrm>
            <a:off x="5468112" y="1783080"/>
            <a:ext cx="2011680" cy="6858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577840" y="1856231"/>
            <a:ext cx="1792224" cy="164592"/>
          </a:xfrm>
          <a:prstGeom prst="rect">
            <a:avLst/>
          </a:prstGeom>
          <a:noFill/>
          <a:ln>
            <a:noFill/>
          </a:ln>
        </p:spPr>
        <p:txBody>
          <a:bodyPr wrap="square" anchor="t">
            <a:spAutoFit/>
          </a:bodyPr>
          <a:lstStyle/>
          <a:p>
            <a:pPr algn="ctr">
              <a:spcBef>
                <a:spcPts val="0"/>
              </a:spcBef>
              <a:spcAft>
                <a:spcPts val="0"/>
              </a:spcAft>
            </a:pPr>
            <a:r>
              <a:rPr sz="1300" b="1" i="0">
                <a:solidFill>
                  <a:srgbClr val="FFFFFF"/>
                </a:solidFill>
                <a:latin typeface="Segoe UI"/>
              </a:rPr>
              <a:t>ViewModel</a:t>
            </a:r>
          </a:p>
        </p:txBody>
      </p:sp>
      <p:sp>
        <p:nvSpPr>
          <p:cNvPr id="15" name="TextBox 14"/>
          <p:cNvSpPr txBox="1"/>
          <p:nvPr/>
        </p:nvSpPr>
        <p:spPr>
          <a:xfrm>
            <a:off x="5577840" y="2093976"/>
            <a:ext cx="1792224" cy="146304"/>
          </a:xfrm>
          <a:prstGeom prst="rect">
            <a:avLst/>
          </a:prstGeom>
          <a:noFill/>
          <a:ln>
            <a:noFill/>
          </a:ln>
        </p:spPr>
        <p:txBody>
          <a:bodyPr wrap="square" anchor="t">
            <a:spAutoFit/>
          </a:bodyPr>
          <a:lstStyle/>
          <a:p>
            <a:pPr algn="ctr">
              <a:spcBef>
                <a:spcPts val="0"/>
              </a:spcBef>
              <a:spcAft>
                <a:spcPts val="0"/>
              </a:spcAft>
            </a:pPr>
            <a:r>
              <a:rPr sz="900" b="0" i="0">
                <a:solidFill>
                  <a:srgbClr val="A6AFBD"/>
                </a:solidFill>
                <a:latin typeface="Segoe UI"/>
              </a:rPr>
              <a:t>Single source of state</a:t>
            </a:r>
          </a:p>
        </p:txBody>
      </p:sp>
      <p:sp>
        <p:nvSpPr>
          <p:cNvPr id="16" name="Rounded Rectangle 15"/>
          <p:cNvSpPr/>
          <p:nvPr/>
        </p:nvSpPr>
        <p:spPr>
          <a:xfrm>
            <a:off x="7772400" y="1783080"/>
            <a:ext cx="2011680" cy="6858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1856231"/>
            <a:ext cx="1792224" cy="164592"/>
          </a:xfrm>
          <a:prstGeom prst="rect">
            <a:avLst/>
          </a:prstGeom>
          <a:noFill/>
          <a:ln>
            <a:noFill/>
          </a:ln>
        </p:spPr>
        <p:txBody>
          <a:bodyPr wrap="square" anchor="t">
            <a:spAutoFit/>
          </a:bodyPr>
          <a:lstStyle/>
          <a:p>
            <a:pPr algn="ctr">
              <a:spcBef>
                <a:spcPts val="0"/>
              </a:spcBef>
              <a:spcAft>
                <a:spcPts val="0"/>
              </a:spcAft>
            </a:pPr>
            <a:r>
              <a:rPr sz="1300" b="1" i="0">
                <a:solidFill>
                  <a:srgbClr val="FFFFFF"/>
                </a:solidFill>
                <a:latin typeface="Segoe UI"/>
              </a:rPr>
              <a:t>Compose UI</a:t>
            </a:r>
          </a:p>
        </p:txBody>
      </p:sp>
      <p:sp>
        <p:nvSpPr>
          <p:cNvPr id="18" name="TextBox 17"/>
          <p:cNvSpPr txBox="1"/>
          <p:nvPr/>
        </p:nvSpPr>
        <p:spPr>
          <a:xfrm>
            <a:off x="7882127" y="2093976"/>
            <a:ext cx="1792224" cy="146304"/>
          </a:xfrm>
          <a:prstGeom prst="rect">
            <a:avLst/>
          </a:prstGeom>
          <a:noFill/>
          <a:ln>
            <a:noFill/>
          </a:ln>
        </p:spPr>
        <p:txBody>
          <a:bodyPr wrap="square" anchor="t">
            <a:spAutoFit/>
          </a:bodyPr>
          <a:lstStyle/>
          <a:p>
            <a:pPr algn="ctr">
              <a:spcBef>
                <a:spcPts val="0"/>
              </a:spcBef>
              <a:spcAft>
                <a:spcPts val="0"/>
              </a:spcAft>
            </a:pPr>
            <a:r>
              <a:rPr sz="900" b="0" i="0">
                <a:solidFill>
                  <a:srgbClr val="A6AFBD"/>
                </a:solidFill>
                <a:latin typeface="Segoe UI"/>
              </a:rPr>
              <a:t>Start screen, list, settings</a:t>
            </a:r>
          </a:p>
        </p:txBody>
      </p:sp>
      <p:cxnSp>
        <p:nvCxnSpPr>
          <p:cNvPr id="19" name="Connector 18"/>
          <p:cNvCxnSpPr/>
          <p:nvPr/>
        </p:nvCxnSpPr>
        <p:spPr>
          <a:xfrm>
            <a:off x="2880360" y="2130552"/>
            <a:ext cx="274320"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5193792" y="2130552"/>
            <a:ext cx="274320"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7498079" y="2130552"/>
            <a:ext cx="274321"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960120" y="3063240"/>
            <a:ext cx="3977639" cy="1115568"/>
          </a:xfrm>
          <a:prstGeom prst="roundRect">
            <a:avLst/>
          </a:prstGeom>
          <a:solidFill>
            <a:srgbClr val="10161D"/>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5166360" y="3063240"/>
            <a:ext cx="4251960" cy="1115568"/>
          </a:xfrm>
          <a:prstGeom prst="roundRect">
            <a:avLst/>
          </a:prstGeom>
          <a:solidFill>
            <a:srgbClr val="10161D"/>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60120" y="4407408"/>
            <a:ext cx="8458200" cy="1115568"/>
          </a:xfrm>
          <a:prstGeom prst="roundRect">
            <a:avLst/>
          </a:prstGeom>
          <a:solidFill>
            <a:srgbClr val="10161D"/>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170432" y="3246120"/>
            <a:ext cx="3474720" cy="182880"/>
          </a:xfrm>
          <a:prstGeom prst="rect">
            <a:avLst/>
          </a:prstGeom>
          <a:noFill/>
          <a:ln>
            <a:noFill/>
          </a:ln>
        </p:spPr>
        <p:txBody>
          <a:bodyPr wrap="square" anchor="t">
            <a:spAutoFit/>
          </a:bodyPr>
          <a:lstStyle/>
          <a:p>
            <a:pPr algn="l">
              <a:spcBef>
                <a:spcPts val="0"/>
              </a:spcBef>
              <a:spcAft>
                <a:spcPts val="0"/>
              </a:spcAft>
            </a:pPr>
            <a:r>
              <a:rPr sz="1300" b="1" i="0">
                <a:solidFill>
                  <a:srgbClr val="FFFFFF"/>
                </a:solidFill>
                <a:latin typeface="Segoe UI"/>
              </a:rPr>
              <a:t>User actions</a:t>
            </a:r>
          </a:p>
        </p:txBody>
      </p:sp>
      <p:sp>
        <p:nvSpPr>
          <p:cNvPr id="26" name="TextBox 25"/>
          <p:cNvSpPr txBox="1"/>
          <p:nvPr/>
        </p:nvSpPr>
        <p:spPr>
          <a:xfrm>
            <a:off x="1170432" y="3529584"/>
            <a:ext cx="3566160" cy="4572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Tap, long-press, drag, resize, theme changes, and group edits all feed back into the ViewModel.</a:t>
            </a:r>
          </a:p>
        </p:txBody>
      </p:sp>
      <p:sp>
        <p:nvSpPr>
          <p:cNvPr id="27" name="TextBox 26"/>
          <p:cNvSpPr txBox="1"/>
          <p:nvPr/>
        </p:nvSpPr>
        <p:spPr>
          <a:xfrm>
            <a:off x="5376672" y="3246120"/>
            <a:ext cx="3657600" cy="182880"/>
          </a:xfrm>
          <a:prstGeom prst="rect">
            <a:avLst/>
          </a:prstGeom>
          <a:noFill/>
          <a:ln>
            <a:noFill/>
          </a:ln>
        </p:spPr>
        <p:txBody>
          <a:bodyPr wrap="square" anchor="t">
            <a:spAutoFit/>
          </a:bodyPr>
          <a:lstStyle/>
          <a:p>
            <a:pPr algn="l">
              <a:spcBef>
                <a:spcPts val="0"/>
              </a:spcBef>
              <a:spcAft>
                <a:spcPts val="0"/>
              </a:spcAft>
            </a:pPr>
            <a:r>
              <a:rPr sz="1300" b="1" i="0">
                <a:solidFill>
                  <a:srgbClr val="FFFFFF"/>
                </a:solidFill>
                <a:latin typeface="Segoe UI"/>
              </a:rPr>
              <a:t>Persistence</a:t>
            </a:r>
          </a:p>
        </p:txBody>
      </p:sp>
      <p:sp>
        <p:nvSpPr>
          <p:cNvPr id="28" name="TextBox 27"/>
          <p:cNvSpPr txBox="1"/>
          <p:nvPr/>
        </p:nvSpPr>
        <p:spPr>
          <a:xfrm>
            <a:off x="5376672" y="3529584"/>
            <a:ext cx="3657600" cy="45720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Room is declared for tile storage while DataStore handles preferences such as theme and transparency.</a:t>
            </a:r>
          </a:p>
        </p:txBody>
      </p:sp>
      <p:sp>
        <p:nvSpPr>
          <p:cNvPr id="29" name="TextBox 28"/>
          <p:cNvSpPr txBox="1"/>
          <p:nvPr/>
        </p:nvSpPr>
        <p:spPr>
          <a:xfrm>
            <a:off x="1170432" y="4590288"/>
            <a:ext cx="8001000" cy="182880"/>
          </a:xfrm>
          <a:prstGeom prst="rect">
            <a:avLst/>
          </a:prstGeom>
          <a:noFill/>
          <a:ln>
            <a:noFill/>
          </a:ln>
        </p:spPr>
        <p:txBody>
          <a:bodyPr wrap="square" anchor="t">
            <a:spAutoFit/>
          </a:bodyPr>
          <a:lstStyle/>
          <a:p>
            <a:pPr algn="l">
              <a:spcBef>
                <a:spcPts val="0"/>
              </a:spcBef>
              <a:spcAft>
                <a:spcPts val="0"/>
              </a:spcAft>
            </a:pPr>
            <a:r>
              <a:rPr sz="1300" b="1" i="0">
                <a:solidFill>
                  <a:srgbClr val="FFFFFF"/>
                </a:solidFill>
                <a:latin typeface="Segoe UI"/>
              </a:rPr>
              <a:t>Manifest and platform integration</a:t>
            </a:r>
          </a:p>
        </p:txBody>
      </p:sp>
      <p:sp>
        <p:nvSpPr>
          <p:cNvPr id="30" name="TextBox 29"/>
          <p:cNvSpPr txBox="1"/>
          <p:nvPr/>
        </p:nvSpPr>
        <p:spPr>
          <a:xfrm>
            <a:off x="1170432" y="4882896"/>
            <a:ext cx="8001000" cy="411480"/>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The activity is registered as both MAIN/LAUNCHER and MAIN/HOME, which is what turns the app into a real home-screen replacement.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BUILD SYSTEM AND DEPENDENCIES</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Stack and tooling</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implementation uses current Android tooling, but stays conservative where stability matters.</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5</a:t>
            </a:r>
          </a:p>
        </p:txBody>
      </p:sp>
      <p:sp>
        <p:nvSpPr>
          <p:cNvPr id="7" name="Rounded Rectangle 6"/>
          <p:cNvSpPr/>
          <p:nvPr/>
        </p:nvSpPr>
        <p:spPr>
          <a:xfrm>
            <a:off x="731520" y="1417320"/>
            <a:ext cx="3611880" cy="2057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17320"/>
            <a:ext cx="73152" cy="2057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563624"/>
            <a:ext cx="328269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UI layer</a:t>
            </a:r>
          </a:p>
        </p:txBody>
      </p:sp>
      <p:sp>
        <p:nvSpPr>
          <p:cNvPr id="10" name="TextBox 9"/>
          <p:cNvSpPr txBox="1"/>
          <p:nvPr/>
        </p:nvSpPr>
        <p:spPr>
          <a:xfrm>
            <a:off x="932688" y="1929384"/>
            <a:ext cx="3264408" cy="1399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Kotlin + Jetpack Compose</a:t>
            </a:r>
          </a:p>
          <a:p>
            <a:pPr algn="l">
              <a:spcBef>
                <a:spcPts val="0"/>
              </a:spcBef>
              <a:spcAft>
                <a:spcPts val="0"/>
              </a:spcAft>
            </a:pPr>
            <a:r>
              <a:rPr sz="1200" b="0" i="0">
                <a:solidFill>
                  <a:srgbClr val="A6AFBD"/>
                </a:solidFill>
                <a:latin typeface="Segoe UI"/>
              </a:rPr>
              <a:t>- Navigation Compose and activity-compose</a:t>
            </a:r>
          </a:p>
          <a:p>
            <a:pPr algn="l">
              <a:spcBef>
                <a:spcPts val="0"/>
              </a:spcBef>
              <a:spcAft>
                <a:spcPts val="0"/>
              </a:spcAft>
            </a:pPr>
            <a:r>
              <a:rPr sz="1200" b="0" i="0">
                <a:solidFill>
                  <a:srgbClr val="A6AFBD"/>
                </a:solidFill>
                <a:latin typeface="Segoe UI"/>
              </a:rPr>
              <a:t>- Compose animations for tile transitions and press tilt</a:t>
            </a:r>
          </a:p>
          <a:p>
            <a:pPr algn="l">
              <a:spcBef>
                <a:spcPts val="0"/>
              </a:spcBef>
              <a:spcAft>
                <a:spcPts val="0"/>
              </a:spcAft>
            </a:pPr>
            <a:r>
              <a:rPr sz="1200" b="0" i="0">
                <a:solidFill>
                  <a:srgbClr val="A6AFBD"/>
                </a:solidFill>
                <a:latin typeface="Segoe UI"/>
              </a:rPr>
              <a:t>- Material 3 for the settings surface</a:t>
            </a:r>
          </a:p>
        </p:txBody>
      </p:sp>
      <p:sp>
        <p:nvSpPr>
          <p:cNvPr id="11" name="Rounded Rectangle 10"/>
          <p:cNvSpPr/>
          <p:nvPr/>
        </p:nvSpPr>
        <p:spPr>
          <a:xfrm>
            <a:off x="4343400" y="1417320"/>
            <a:ext cx="3611880" cy="2057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43400" y="1417320"/>
            <a:ext cx="73152" cy="2057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44568" y="1563624"/>
            <a:ext cx="328269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State and data</a:t>
            </a:r>
          </a:p>
        </p:txBody>
      </p:sp>
      <p:sp>
        <p:nvSpPr>
          <p:cNvPr id="14" name="TextBox 13"/>
          <p:cNvSpPr txBox="1"/>
          <p:nvPr/>
        </p:nvSpPr>
        <p:spPr>
          <a:xfrm>
            <a:off x="4544568" y="1929384"/>
            <a:ext cx="3264408" cy="1399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Hilt for dependency injection</a:t>
            </a:r>
          </a:p>
          <a:p>
            <a:pPr algn="l">
              <a:spcBef>
                <a:spcPts val="0"/>
              </a:spcBef>
              <a:spcAft>
                <a:spcPts val="0"/>
              </a:spcAft>
            </a:pPr>
            <a:r>
              <a:rPr sz="1200" b="0" i="0">
                <a:solidFill>
                  <a:srgbClr val="A6AFBD"/>
                </a:solidFill>
                <a:latin typeface="Segoe UI"/>
              </a:rPr>
              <a:t>- DataStore preferences for user settings</a:t>
            </a:r>
          </a:p>
          <a:p>
            <a:pPr algn="l">
              <a:spcBef>
                <a:spcPts val="0"/>
              </a:spcBef>
              <a:spcAft>
                <a:spcPts val="0"/>
              </a:spcAft>
            </a:pPr>
            <a:r>
              <a:rPr sz="1200" b="0" i="0">
                <a:solidFill>
                  <a:srgbClr val="A6AFBD"/>
                </a:solidFill>
                <a:latin typeface="Segoe UI"/>
              </a:rPr>
              <a:t>- Room for tile layout persistence</a:t>
            </a:r>
          </a:p>
          <a:p>
            <a:pPr algn="l">
              <a:spcBef>
                <a:spcPts val="0"/>
              </a:spcBef>
              <a:spcAft>
                <a:spcPts val="0"/>
              </a:spcAft>
            </a:pPr>
            <a:r>
              <a:rPr sz="1200" b="0" i="0">
                <a:solidFill>
                  <a:srgbClr val="A6AFBD"/>
                </a:solidFill>
                <a:latin typeface="Segoe UI"/>
              </a:rPr>
              <a:t>- Repository pattern for app discovery and launch data</a:t>
            </a:r>
          </a:p>
        </p:txBody>
      </p:sp>
      <p:sp>
        <p:nvSpPr>
          <p:cNvPr id="15" name="Rounded Rectangle 14"/>
          <p:cNvSpPr/>
          <p:nvPr/>
        </p:nvSpPr>
        <p:spPr>
          <a:xfrm>
            <a:off x="7955279" y="1417320"/>
            <a:ext cx="3520440" cy="2057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955279" y="1417320"/>
            <a:ext cx="73152" cy="2057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56448" y="1563624"/>
            <a:ext cx="319125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Build and release</a:t>
            </a:r>
          </a:p>
        </p:txBody>
      </p:sp>
      <p:sp>
        <p:nvSpPr>
          <p:cNvPr id="18" name="TextBox 17"/>
          <p:cNvSpPr txBox="1"/>
          <p:nvPr/>
        </p:nvSpPr>
        <p:spPr>
          <a:xfrm>
            <a:off x="8156448" y="1929384"/>
            <a:ext cx="3172968" cy="1399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Gradle Kotlin DSL with version catalogs</a:t>
            </a:r>
          </a:p>
          <a:p>
            <a:pPr algn="l">
              <a:spcBef>
                <a:spcPts val="0"/>
              </a:spcBef>
              <a:spcAft>
                <a:spcPts val="0"/>
              </a:spcAft>
            </a:pPr>
            <a:r>
              <a:rPr sz="1200" b="0" i="0">
                <a:solidFill>
                  <a:srgbClr val="A6AFBD"/>
                </a:solidFill>
                <a:latin typeface="Segoe UI"/>
              </a:rPr>
              <a:t>- Android Studio JBR for builds and installs</a:t>
            </a:r>
          </a:p>
          <a:p>
            <a:pPr algn="l">
              <a:spcBef>
                <a:spcPts val="0"/>
              </a:spcBef>
              <a:spcAft>
                <a:spcPts val="0"/>
              </a:spcAft>
            </a:pPr>
            <a:r>
              <a:rPr sz="1200" b="0" i="0">
                <a:solidFill>
                  <a:srgbClr val="A6AFBD"/>
                </a:solidFill>
                <a:latin typeface="Segoe UI"/>
              </a:rPr>
              <a:t>- Min SDK 29, target SDK 35</a:t>
            </a:r>
          </a:p>
          <a:p>
            <a:pPr algn="l">
              <a:spcBef>
                <a:spcPts val="0"/>
              </a:spcBef>
              <a:spcAft>
                <a:spcPts val="0"/>
              </a:spcAft>
            </a:pPr>
            <a:r>
              <a:rPr sz="1200" b="0" i="0">
                <a:solidFill>
                  <a:srgbClr val="A6AFBD"/>
                </a:solidFill>
                <a:latin typeface="Segoe UI"/>
              </a:rPr>
              <a:t>- Debug installs via installDebug on emulator</a:t>
            </a:r>
          </a:p>
        </p:txBody>
      </p:sp>
      <p:sp>
        <p:nvSpPr>
          <p:cNvPr id="19" name="Rounded Rectangle 18"/>
          <p:cNvSpPr/>
          <p:nvPr/>
        </p:nvSpPr>
        <p:spPr>
          <a:xfrm>
            <a:off x="731520" y="3794760"/>
            <a:ext cx="10744200" cy="155448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31520" y="3794760"/>
            <a:ext cx="73152" cy="155448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32688" y="3941064"/>
            <a:ext cx="1041501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Why this stack fits the app</a:t>
            </a:r>
          </a:p>
        </p:txBody>
      </p:sp>
      <p:sp>
        <p:nvSpPr>
          <p:cNvPr id="22" name="TextBox 21"/>
          <p:cNvSpPr txBox="1"/>
          <p:nvPr/>
        </p:nvSpPr>
        <p:spPr>
          <a:xfrm>
            <a:off x="932688" y="4306824"/>
            <a:ext cx="10396728" cy="89611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Compose makes the custom tile UI and drag/edit interactions practical.</a:t>
            </a:r>
          </a:p>
          <a:p>
            <a:pPr algn="l">
              <a:spcBef>
                <a:spcPts val="0"/>
              </a:spcBef>
              <a:spcAft>
                <a:spcPts val="0"/>
              </a:spcAft>
            </a:pPr>
            <a:r>
              <a:rPr sz="1200" b="0" i="0">
                <a:solidFill>
                  <a:srgbClr val="A6AFBD"/>
                </a:solidFill>
                <a:latin typeface="Segoe UI"/>
              </a:rPr>
              <a:t>- Hilt and repositories keep the launcher code testable as it grows.</a:t>
            </a:r>
          </a:p>
          <a:p>
            <a:pPr algn="l">
              <a:spcBef>
                <a:spcPts val="0"/>
              </a:spcBef>
              <a:spcAft>
                <a:spcPts val="0"/>
              </a:spcAft>
            </a:pPr>
            <a:r>
              <a:rPr sz="1200" b="0" i="0">
                <a:solidFill>
                  <a:srgbClr val="A6AFBD"/>
                </a:solidFill>
                <a:latin typeface="Segoe UI"/>
              </a:rPr>
              <a:t>- DataStore and Room separate small preferences from structured layout state.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METRO-STYLE HOME SHELL</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Start screen</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This is the main home screen: a six-column tile grid with drag-and-drop behavior.</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6</a:t>
            </a:r>
          </a:p>
        </p:txBody>
      </p:sp>
      <p:sp>
        <p:nvSpPr>
          <p:cNvPr id="7" name="Rounded Rectangle 6"/>
          <p:cNvSpPr/>
          <p:nvPr/>
        </p:nvSpPr>
        <p:spPr>
          <a:xfrm>
            <a:off x="777240" y="1417320"/>
            <a:ext cx="5166360" cy="516636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tart-screen.png"/>
          <p:cNvPicPr>
            <a:picLocks noChangeAspect="1"/>
          </p:cNvPicPr>
          <p:nvPr/>
        </p:nvPicPr>
        <p:blipFill>
          <a:blip r:embed="rId2"/>
          <a:stretch>
            <a:fillRect/>
          </a:stretch>
        </p:blipFill>
        <p:spPr>
          <a:xfrm>
            <a:off x="2255596" y="1545336"/>
            <a:ext cx="2209647" cy="4910328"/>
          </a:xfrm>
          <a:prstGeom prst="rect">
            <a:avLst/>
          </a:prstGeom>
        </p:spPr>
      </p:pic>
      <p:sp>
        <p:nvSpPr>
          <p:cNvPr id="9" name="Rounded Rectangle 8"/>
          <p:cNvSpPr/>
          <p:nvPr/>
        </p:nvSpPr>
        <p:spPr>
          <a:xfrm>
            <a:off x="6172200" y="1508760"/>
            <a:ext cx="5212080" cy="987552"/>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172200" y="1508760"/>
            <a:ext cx="73152" cy="987552"/>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355080" y="1636776"/>
            <a:ext cx="493776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Grid behavior</a:t>
            </a:r>
          </a:p>
        </p:txBody>
      </p:sp>
      <p:sp>
        <p:nvSpPr>
          <p:cNvPr id="12" name="TextBox 11"/>
          <p:cNvSpPr txBox="1"/>
          <p:nvPr/>
        </p:nvSpPr>
        <p:spPr>
          <a:xfrm>
            <a:off x="6355080" y="1901952"/>
            <a:ext cx="4919472" cy="512064"/>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Tiles can span 1 to 6 columns wide and 1 to 4 rows tall, which keeps the layout flexible while preserving the Metro rhythm.</a:t>
            </a:r>
          </a:p>
        </p:txBody>
      </p:sp>
      <p:sp>
        <p:nvSpPr>
          <p:cNvPr id="13" name="Rounded Rectangle 12"/>
          <p:cNvSpPr/>
          <p:nvPr/>
        </p:nvSpPr>
        <p:spPr>
          <a:xfrm>
            <a:off x="6172200" y="2670048"/>
            <a:ext cx="5212080" cy="987552"/>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2200" y="2670048"/>
            <a:ext cx="73152" cy="987552"/>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2798064"/>
            <a:ext cx="493776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Interaction</a:t>
            </a:r>
          </a:p>
        </p:txBody>
      </p:sp>
      <p:sp>
        <p:nvSpPr>
          <p:cNvPr id="16" name="TextBox 15"/>
          <p:cNvSpPr txBox="1"/>
          <p:nvPr/>
        </p:nvSpPr>
        <p:spPr>
          <a:xfrm>
            <a:off x="6355080" y="3063240"/>
            <a:ext cx="4919472" cy="512064"/>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Long-press enters edit mode; dragging automatically displaces overlapping tiles to the nearest free space.</a:t>
            </a:r>
          </a:p>
        </p:txBody>
      </p:sp>
      <p:sp>
        <p:nvSpPr>
          <p:cNvPr id="17" name="Rounded Rectangle 16"/>
          <p:cNvSpPr/>
          <p:nvPr/>
        </p:nvSpPr>
        <p:spPr>
          <a:xfrm>
            <a:off x="6172200" y="3831336"/>
            <a:ext cx="5212080" cy="987552"/>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2200" y="3831336"/>
            <a:ext cx="73152" cy="987552"/>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3959352"/>
            <a:ext cx="493776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Visual treatment</a:t>
            </a:r>
          </a:p>
        </p:txBody>
      </p:sp>
      <p:sp>
        <p:nvSpPr>
          <p:cNvPr id="20" name="TextBox 19"/>
          <p:cNvSpPr txBox="1"/>
          <p:nvPr/>
        </p:nvSpPr>
        <p:spPr>
          <a:xfrm>
            <a:off x="6355080" y="4224528"/>
            <a:ext cx="4919472" cy="512064"/>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Wallpaper shows through transparent tiles, and the UI uses large type, dark surfaces, and subtle glass bevels.</a:t>
            </a:r>
          </a:p>
        </p:txBody>
      </p:sp>
      <p:sp>
        <p:nvSpPr>
          <p:cNvPr id="21" name="Rounded Rectangle 20"/>
          <p:cNvSpPr/>
          <p:nvPr/>
        </p:nvSpPr>
        <p:spPr>
          <a:xfrm>
            <a:off x="6172200" y="4992624"/>
            <a:ext cx="5212080" cy="987552"/>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2200" y="4992624"/>
            <a:ext cx="73152" cy="987552"/>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55080" y="5120640"/>
            <a:ext cx="493776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Start screen loop</a:t>
            </a:r>
          </a:p>
        </p:txBody>
      </p:sp>
      <p:sp>
        <p:nvSpPr>
          <p:cNvPr id="24" name="TextBox 23"/>
          <p:cNvSpPr txBox="1"/>
          <p:nvPr/>
        </p:nvSpPr>
        <p:spPr>
          <a:xfrm>
            <a:off x="6355080" y="5385816"/>
            <a:ext cx="4919472" cy="512064"/>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This screen is the reason the app feels like a launcher instead of a standard list-based application.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TILE MANAGEMENT</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Edit mode and groups</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tile system supports resizing, unpinning, and dwell-to-group interactions.</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7</a:t>
            </a:r>
          </a:p>
        </p:txBody>
      </p:sp>
      <p:sp>
        <p:nvSpPr>
          <p:cNvPr id="7" name="Rounded Rectangle 6"/>
          <p:cNvSpPr/>
          <p:nvPr/>
        </p:nvSpPr>
        <p:spPr>
          <a:xfrm>
            <a:off x="685800" y="1417320"/>
            <a:ext cx="5349240" cy="507492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edit-mode.png"/>
          <p:cNvPicPr>
            <a:picLocks noChangeAspect="1"/>
          </p:cNvPicPr>
          <p:nvPr/>
        </p:nvPicPr>
        <p:blipFill>
          <a:blip r:embed="rId2"/>
          <a:stretch>
            <a:fillRect/>
          </a:stretch>
        </p:blipFill>
        <p:spPr>
          <a:xfrm>
            <a:off x="2276170" y="1545336"/>
            <a:ext cx="2168499" cy="4818888"/>
          </a:xfrm>
          <a:prstGeom prst="rect">
            <a:avLst/>
          </a:prstGeom>
        </p:spPr>
      </p:pic>
      <p:sp>
        <p:nvSpPr>
          <p:cNvPr id="9" name="Rounded Rectangle 8"/>
          <p:cNvSpPr/>
          <p:nvPr/>
        </p:nvSpPr>
        <p:spPr>
          <a:xfrm>
            <a:off x="6172200" y="1417320"/>
            <a:ext cx="5349240" cy="233172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tile-group-expanded.png"/>
          <p:cNvPicPr>
            <a:picLocks noChangeAspect="1"/>
          </p:cNvPicPr>
          <p:nvPr/>
        </p:nvPicPr>
        <p:blipFill>
          <a:blip r:embed="rId3"/>
          <a:stretch>
            <a:fillRect/>
          </a:stretch>
        </p:blipFill>
        <p:spPr>
          <a:xfrm>
            <a:off x="8379790" y="1545336"/>
            <a:ext cx="934059" cy="2075687"/>
          </a:xfrm>
          <a:prstGeom prst="rect">
            <a:avLst/>
          </a:prstGeom>
        </p:spPr>
      </p:pic>
      <p:sp>
        <p:nvSpPr>
          <p:cNvPr id="11" name="Rounded Rectangle 10"/>
          <p:cNvSpPr/>
          <p:nvPr/>
        </p:nvSpPr>
        <p:spPr>
          <a:xfrm>
            <a:off x="6172200" y="3931920"/>
            <a:ext cx="5349240" cy="786384"/>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172200" y="3931920"/>
            <a:ext cx="73152" cy="786384"/>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55080" y="4059935"/>
            <a:ext cx="507492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Edit mode</a:t>
            </a:r>
          </a:p>
        </p:txBody>
      </p:sp>
      <p:sp>
        <p:nvSpPr>
          <p:cNvPr id="14" name="TextBox 13"/>
          <p:cNvSpPr txBox="1"/>
          <p:nvPr/>
        </p:nvSpPr>
        <p:spPr>
          <a:xfrm>
            <a:off x="6355080" y="4325112"/>
            <a:ext cx="5056631" cy="310896"/>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Long-press a tile to shrink it, show its size label, and expose the unpin button.</a:t>
            </a:r>
          </a:p>
        </p:txBody>
      </p:sp>
      <p:sp>
        <p:nvSpPr>
          <p:cNvPr id="15" name="Rounded Rectangle 14"/>
          <p:cNvSpPr/>
          <p:nvPr/>
        </p:nvSpPr>
        <p:spPr>
          <a:xfrm>
            <a:off x="6172200" y="4828032"/>
            <a:ext cx="5349240" cy="786384"/>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72200" y="4828032"/>
            <a:ext cx="73152" cy="786384"/>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55080" y="4956048"/>
            <a:ext cx="507492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Grouping</a:t>
            </a:r>
          </a:p>
        </p:txBody>
      </p:sp>
      <p:sp>
        <p:nvSpPr>
          <p:cNvPr id="18" name="TextBox 17"/>
          <p:cNvSpPr txBox="1"/>
          <p:nvPr/>
        </p:nvSpPr>
        <p:spPr>
          <a:xfrm>
            <a:off x="6355080" y="5221224"/>
            <a:ext cx="5056631" cy="310896"/>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Dragging onto another tile and holding still creates a group; expanded groups can be rearranged and ungrouped.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NAVIGATION AND DISCOVERY</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App list and search</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second screen gives fast discovery and a clean pin-to-start workflow.</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8</a:t>
            </a:r>
          </a:p>
        </p:txBody>
      </p:sp>
      <p:sp>
        <p:nvSpPr>
          <p:cNvPr id="7" name="Rounded Rectangle 6"/>
          <p:cNvSpPr/>
          <p:nvPr/>
        </p:nvSpPr>
        <p:spPr>
          <a:xfrm>
            <a:off x="777240" y="1417320"/>
            <a:ext cx="4709160" cy="521208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app-list.png"/>
          <p:cNvPicPr>
            <a:picLocks noChangeAspect="1"/>
          </p:cNvPicPr>
          <p:nvPr/>
        </p:nvPicPr>
        <p:blipFill>
          <a:blip r:embed="rId2"/>
          <a:stretch>
            <a:fillRect/>
          </a:stretch>
        </p:blipFill>
        <p:spPr>
          <a:xfrm>
            <a:off x="2016709" y="1545336"/>
            <a:ext cx="2230221" cy="4956048"/>
          </a:xfrm>
          <a:prstGeom prst="rect">
            <a:avLst/>
          </a:prstGeom>
        </p:spPr>
      </p:pic>
      <p:sp>
        <p:nvSpPr>
          <p:cNvPr id="9" name="Rounded Rectangle 8"/>
          <p:cNvSpPr/>
          <p:nvPr/>
        </p:nvSpPr>
        <p:spPr>
          <a:xfrm>
            <a:off x="5806440" y="1508760"/>
            <a:ext cx="5532120" cy="11430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806440" y="1508760"/>
            <a:ext cx="73152" cy="11430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007607" y="1655063"/>
            <a:ext cx="52029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Navigation model</a:t>
            </a:r>
          </a:p>
        </p:txBody>
      </p:sp>
      <p:sp>
        <p:nvSpPr>
          <p:cNvPr id="12" name="TextBox 11"/>
          <p:cNvSpPr txBox="1"/>
          <p:nvPr/>
        </p:nvSpPr>
        <p:spPr>
          <a:xfrm>
            <a:off x="6007607" y="2020824"/>
            <a:ext cx="5184648" cy="4846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Swipe right from Start, or tap All Apps at the bottom-right.</a:t>
            </a:r>
          </a:p>
          <a:p>
            <a:pPr algn="l">
              <a:spcBef>
                <a:spcPts val="0"/>
              </a:spcBef>
              <a:spcAft>
                <a:spcPts val="0"/>
              </a:spcAft>
            </a:pPr>
            <a:r>
              <a:rPr sz="1200" b="0" i="0">
                <a:solidFill>
                  <a:srgbClr val="A6AFBD"/>
                </a:solidFill>
                <a:latin typeface="Segoe UI"/>
              </a:rPr>
              <a:t>- The app list uses alphabetical headers and a search bar at the top.</a:t>
            </a:r>
          </a:p>
        </p:txBody>
      </p:sp>
      <p:sp>
        <p:nvSpPr>
          <p:cNvPr id="13" name="Rounded Rectangle 12"/>
          <p:cNvSpPr/>
          <p:nvPr/>
        </p:nvSpPr>
        <p:spPr>
          <a:xfrm>
            <a:off x="5806440" y="2788920"/>
            <a:ext cx="5532120" cy="11430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806440" y="2788920"/>
            <a:ext cx="73152" cy="11430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007607" y="2935224"/>
            <a:ext cx="52029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Pinning flow</a:t>
            </a:r>
          </a:p>
        </p:txBody>
      </p:sp>
      <p:sp>
        <p:nvSpPr>
          <p:cNvPr id="16" name="TextBox 15"/>
          <p:cNvSpPr txBox="1"/>
          <p:nvPr/>
        </p:nvSpPr>
        <p:spPr>
          <a:xfrm>
            <a:off x="6007607" y="3300984"/>
            <a:ext cx="5184648" cy="4846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Long-press any app to pin it back to the Start screen as a tile.</a:t>
            </a:r>
          </a:p>
          <a:p>
            <a:pPr algn="l">
              <a:spcBef>
                <a:spcPts val="0"/>
              </a:spcBef>
              <a:spcAft>
                <a:spcPts val="0"/>
              </a:spcAft>
            </a:pPr>
            <a:r>
              <a:rPr sz="1200" b="0" i="0">
                <a:solidFill>
                  <a:srgbClr val="A6AFBD"/>
                </a:solidFill>
                <a:latin typeface="Segoe UI"/>
              </a:rPr>
              <a:t>- This keeps the launcher tied to the installed app set on the device.</a:t>
            </a:r>
          </a:p>
        </p:txBody>
      </p:sp>
      <p:sp>
        <p:nvSpPr>
          <p:cNvPr id="17" name="Rounded Rectangle 16"/>
          <p:cNvSpPr/>
          <p:nvPr/>
        </p:nvSpPr>
        <p:spPr>
          <a:xfrm>
            <a:off x="5806440" y="4069080"/>
            <a:ext cx="5532120" cy="11430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06440" y="4069080"/>
            <a:ext cx="73152" cy="11430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07607" y="4215384"/>
            <a:ext cx="52029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Visual pattern</a:t>
            </a:r>
          </a:p>
        </p:txBody>
      </p:sp>
      <p:sp>
        <p:nvSpPr>
          <p:cNvPr id="20" name="TextBox 19"/>
          <p:cNvSpPr txBox="1"/>
          <p:nvPr/>
        </p:nvSpPr>
        <p:spPr>
          <a:xfrm>
            <a:off x="6007607" y="4581144"/>
            <a:ext cx="5184648" cy="4846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Accent-colored square icon blocks echo the Windows Phone app list.</a:t>
            </a:r>
          </a:p>
          <a:p>
            <a:pPr algn="l">
              <a:spcBef>
                <a:spcPts val="0"/>
              </a:spcBef>
              <a:spcAft>
                <a:spcPts val="0"/>
              </a:spcAft>
            </a:pPr>
            <a:r>
              <a:rPr sz="1200" b="0" i="0">
                <a:solidFill>
                  <a:srgbClr val="A6AFBD"/>
                </a:solidFill>
                <a:latin typeface="Segoe UI"/>
              </a:rPr>
              <a:t>- The layout is intentionally dense and text-forward.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VISUAL CUSTOMIZATION</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Settings and theming</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customization surface makes the launcher feel personal instead of fixed.</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9</a:t>
            </a:r>
          </a:p>
        </p:txBody>
      </p:sp>
      <p:sp>
        <p:nvSpPr>
          <p:cNvPr id="7" name="Rounded Rectangle 6"/>
          <p:cNvSpPr/>
          <p:nvPr/>
        </p:nvSpPr>
        <p:spPr>
          <a:xfrm>
            <a:off x="777240" y="1417320"/>
            <a:ext cx="4434840" cy="521208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ettings-screen.png"/>
          <p:cNvPicPr>
            <a:picLocks noChangeAspect="1"/>
          </p:cNvPicPr>
          <p:nvPr/>
        </p:nvPicPr>
        <p:blipFill>
          <a:blip r:embed="rId2"/>
          <a:stretch>
            <a:fillRect/>
          </a:stretch>
        </p:blipFill>
        <p:spPr>
          <a:xfrm>
            <a:off x="1879549" y="1545336"/>
            <a:ext cx="2230221" cy="4956048"/>
          </a:xfrm>
          <a:prstGeom prst="rect">
            <a:avLst/>
          </a:prstGeom>
        </p:spPr>
      </p:pic>
      <p:sp>
        <p:nvSpPr>
          <p:cNvPr id="9" name="Rounded Rectangle 8"/>
          <p:cNvSpPr/>
          <p:nvPr/>
        </p:nvSpPr>
        <p:spPr>
          <a:xfrm>
            <a:off x="5577840" y="1508760"/>
            <a:ext cx="5760720" cy="914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577840" y="1508760"/>
            <a:ext cx="73152" cy="914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79007" y="1655063"/>
            <a:ext cx="54315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Accent color</a:t>
            </a:r>
          </a:p>
        </p:txBody>
      </p:sp>
      <p:sp>
        <p:nvSpPr>
          <p:cNvPr id="12" name="TextBox 11"/>
          <p:cNvSpPr txBox="1"/>
          <p:nvPr/>
        </p:nvSpPr>
        <p:spPr>
          <a:xfrm>
            <a:off x="5779007" y="2020824"/>
            <a:ext cx="5413248" cy="256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HSV picker with live hex preview and a Metro-style blue default.</a:t>
            </a:r>
          </a:p>
        </p:txBody>
      </p:sp>
      <p:sp>
        <p:nvSpPr>
          <p:cNvPr id="13" name="Rounded Rectangle 12"/>
          <p:cNvSpPr/>
          <p:nvPr/>
        </p:nvSpPr>
        <p:spPr>
          <a:xfrm>
            <a:off x="5577840" y="2578608"/>
            <a:ext cx="5760720" cy="914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577840" y="2578608"/>
            <a:ext cx="73152" cy="914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79007" y="2724912"/>
            <a:ext cx="54315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Transparency and bevel</a:t>
            </a:r>
          </a:p>
        </p:txBody>
      </p:sp>
      <p:sp>
        <p:nvSpPr>
          <p:cNvPr id="16" name="TextBox 15"/>
          <p:cNvSpPr txBox="1"/>
          <p:nvPr/>
        </p:nvSpPr>
        <p:spPr>
          <a:xfrm>
            <a:off x="5779007" y="3090672"/>
            <a:ext cx="5413248" cy="256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Global tile opacity slider plus a glass-like bevel depth control.</a:t>
            </a:r>
          </a:p>
        </p:txBody>
      </p:sp>
      <p:sp>
        <p:nvSpPr>
          <p:cNvPr id="17" name="Rounded Rectangle 16"/>
          <p:cNvSpPr/>
          <p:nvPr/>
        </p:nvSpPr>
        <p:spPr>
          <a:xfrm>
            <a:off x="5577840" y="3648456"/>
            <a:ext cx="5760720" cy="914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577840" y="3648456"/>
            <a:ext cx="73152" cy="914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779007" y="3794760"/>
            <a:ext cx="54315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Theme and interval</a:t>
            </a:r>
          </a:p>
        </p:txBody>
      </p:sp>
      <p:sp>
        <p:nvSpPr>
          <p:cNvPr id="20" name="TextBox 19"/>
          <p:cNvSpPr txBox="1"/>
          <p:nvPr/>
        </p:nvSpPr>
        <p:spPr>
          <a:xfrm>
            <a:off x="5779007" y="4160520"/>
            <a:ext cx="5413248" cy="256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Dark/light mode, live-tile animation interval, and theme saving.</a:t>
            </a:r>
          </a:p>
        </p:txBody>
      </p:sp>
      <p:sp>
        <p:nvSpPr>
          <p:cNvPr id="21" name="Rounded Rectangle 20"/>
          <p:cNvSpPr/>
          <p:nvPr/>
        </p:nvSpPr>
        <p:spPr>
          <a:xfrm>
            <a:off x="5577840" y="4718304"/>
            <a:ext cx="5760720" cy="91440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577840" y="4718304"/>
            <a:ext cx="73152" cy="91440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779007" y="4864608"/>
            <a:ext cx="54315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Why settings matter</a:t>
            </a:r>
          </a:p>
        </p:txBody>
      </p:sp>
      <p:sp>
        <p:nvSpPr>
          <p:cNvPr id="24" name="TextBox 23"/>
          <p:cNvSpPr txBox="1"/>
          <p:nvPr/>
        </p:nvSpPr>
        <p:spPr>
          <a:xfrm>
            <a:off x="5779007" y="5230368"/>
            <a:ext cx="5413248" cy="25603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The UI design only works if users can shape the look and density of the screen.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DEVELOPMENT WORKFLOW</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Build and validation loop</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app was created by building, installing, and checking the result on a live emulator.</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10</a:t>
            </a:r>
          </a:p>
        </p:txBody>
      </p:sp>
      <p:sp>
        <p:nvSpPr>
          <p:cNvPr id="7" name="Rounded Rectangle 6"/>
          <p:cNvSpPr/>
          <p:nvPr/>
        </p:nvSpPr>
        <p:spPr>
          <a:xfrm>
            <a:off x="868680" y="1828800"/>
            <a:ext cx="1828800" cy="9144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3063240" y="1828800"/>
            <a:ext cx="1828800" cy="9144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257800" y="1828800"/>
            <a:ext cx="1828800" cy="9144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52360" y="1828800"/>
            <a:ext cx="1828800" cy="9144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9646920" y="1828800"/>
            <a:ext cx="1828800" cy="914400"/>
          </a:xfrm>
          <a:prstGeom prst="roundRect">
            <a:avLst/>
          </a:prstGeom>
          <a:solidFill>
            <a:srgbClr val="14181F"/>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024128" y="2029968"/>
            <a:ext cx="1508760" cy="274320"/>
          </a:xfrm>
          <a:prstGeom prst="rect">
            <a:avLst/>
          </a:prstGeom>
          <a:noFill/>
          <a:ln>
            <a:noFill/>
          </a:ln>
        </p:spPr>
        <p:txBody>
          <a:bodyPr wrap="square" anchor="t">
            <a:spAutoFit/>
          </a:bodyPr>
          <a:lstStyle/>
          <a:p>
            <a:pPr algn="ctr">
              <a:spcBef>
                <a:spcPts val="0"/>
              </a:spcBef>
              <a:spcAft>
                <a:spcPts val="0"/>
              </a:spcAft>
            </a:pPr>
            <a:r>
              <a:rPr sz="1500" b="1" i="0">
                <a:solidFill>
                  <a:srgbClr val="FFFFFF"/>
                </a:solidFill>
                <a:latin typeface="Segoe UI"/>
              </a:rPr>
              <a:t>Gradle</a:t>
            </a:r>
          </a:p>
        </p:txBody>
      </p:sp>
      <p:sp>
        <p:nvSpPr>
          <p:cNvPr id="13" name="TextBox 12"/>
          <p:cNvSpPr txBox="1"/>
          <p:nvPr/>
        </p:nvSpPr>
        <p:spPr>
          <a:xfrm>
            <a:off x="3218688" y="2029968"/>
            <a:ext cx="1508760" cy="274320"/>
          </a:xfrm>
          <a:prstGeom prst="rect">
            <a:avLst/>
          </a:prstGeom>
          <a:noFill/>
          <a:ln>
            <a:noFill/>
          </a:ln>
        </p:spPr>
        <p:txBody>
          <a:bodyPr wrap="square" anchor="t">
            <a:spAutoFit/>
          </a:bodyPr>
          <a:lstStyle/>
          <a:p>
            <a:pPr algn="ctr">
              <a:spcBef>
                <a:spcPts val="0"/>
              </a:spcBef>
              <a:spcAft>
                <a:spcPts val="0"/>
              </a:spcAft>
            </a:pPr>
            <a:r>
              <a:rPr sz="1500" b="1" i="0">
                <a:solidFill>
                  <a:srgbClr val="FFFFFF"/>
                </a:solidFill>
                <a:latin typeface="Segoe UI"/>
              </a:rPr>
              <a:t>Emulator</a:t>
            </a:r>
          </a:p>
        </p:txBody>
      </p:sp>
      <p:sp>
        <p:nvSpPr>
          <p:cNvPr id="14" name="TextBox 13"/>
          <p:cNvSpPr txBox="1"/>
          <p:nvPr/>
        </p:nvSpPr>
        <p:spPr>
          <a:xfrm>
            <a:off x="5413248" y="2029968"/>
            <a:ext cx="1508760" cy="274320"/>
          </a:xfrm>
          <a:prstGeom prst="rect">
            <a:avLst/>
          </a:prstGeom>
          <a:noFill/>
          <a:ln>
            <a:noFill/>
          </a:ln>
        </p:spPr>
        <p:txBody>
          <a:bodyPr wrap="square" anchor="t">
            <a:spAutoFit/>
          </a:bodyPr>
          <a:lstStyle/>
          <a:p>
            <a:pPr algn="ctr">
              <a:spcBef>
                <a:spcPts val="0"/>
              </a:spcBef>
              <a:spcAft>
                <a:spcPts val="0"/>
              </a:spcAft>
            </a:pPr>
            <a:r>
              <a:rPr sz="1500" b="1" i="0">
                <a:solidFill>
                  <a:srgbClr val="FFFFFF"/>
                </a:solidFill>
                <a:latin typeface="Segoe UI"/>
              </a:rPr>
              <a:t>adb install</a:t>
            </a:r>
          </a:p>
        </p:txBody>
      </p:sp>
      <p:sp>
        <p:nvSpPr>
          <p:cNvPr id="15" name="TextBox 14"/>
          <p:cNvSpPr txBox="1"/>
          <p:nvPr/>
        </p:nvSpPr>
        <p:spPr>
          <a:xfrm>
            <a:off x="7607808" y="2029968"/>
            <a:ext cx="1508760" cy="274320"/>
          </a:xfrm>
          <a:prstGeom prst="rect">
            <a:avLst/>
          </a:prstGeom>
          <a:noFill/>
          <a:ln>
            <a:noFill/>
          </a:ln>
        </p:spPr>
        <p:txBody>
          <a:bodyPr wrap="square" anchor="t">
            <a:spAutoFit/>
          </a:bodyPr>
          <a:lstStyle/>
          <a:p>
            <a:pPr algn="ctr">
              <a:spcBef>
                <a:spcPts val="0"/>
              </a:spcBef>
              <a:spcAft>
                <a:spcPts val="0"/>
              </a:spcAft>
            </a:pPr>
            <a:r>
              <a:rPr sz="1500" b="1" i="0">
                <a:solidFill>
                  <a:srgbClr val="FFFFFF"/>
                </a:solidFill>
                <a:latin typeface="Segoe UI"/>
              </a:rPr>
              <a:t>Launch</a:t>
            </a:r>
          </a:p>
        </p:txBody>
      </p:sp>
      <p:sp>
        <p:nvSpPr>
          <p:cNvPr id="16" name="TextBox 15"/>
          <p:cNvSpPr txBox="1"/>
          <p:nvPr/>
        </p:nvSpPr>
        <p:spPr>
          <a:xfrm>
            <a:off x="9802368" y="2029968"/>
            <a:ext cx="1508760" cy="274320"/>
          </a:xfrm>
          <a:prstGeom prst="rect">
            <a:avLst/>
          </a:prstGeom>
          <a:noFill/>
          <a:ln>
            <a:noFill/>
          </a:ln>
        </p:spPr>
        <p:txBody>
          <a:bodyPr wrap="square" anchor="t">
            <a:spAutoFit/>
          </a:bodyPr>
          <a:lstStyle/>
          <a:p>
            <a:pPr algn="ctr">
              <a:spcBef>
                <a:spcPts val="0"/>
              </a:spcBef>
              <a:spcAft>
                <a:spcPts val="0"/>
              </a:spcAft>
            </a:pPr>
            <a:r>
              <a:rPr sz="1500" b="1" i="0">
                <a:solidFill>
                  <a:srgbClr val="FFFFFF"/>
                </a:solidFill>
                <a:latin typeface="Segoe UI"/>
              </a:rPr>
              <a:t>Inspect</a:t>
            </a:r>
          </a:p>
        </p:txBody>
      </p:sp>
      <p:cxnSp>
        <p:nvCxnSpPr>
          <p:cNvPr id="17" name="Connector 16"/>
          <p:cNvCxnSpPr/>
          <p:nvPr/>
        </p:nvCxnSpPr>
        <p:spPr>
          <a:xfrm>
            <a:off x="2697480" y="2286000"/>
            <a:ext cx="365760"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892040" y="2286000"/>
            <a:ext cx="365760"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7086600" y="2286000"/>
            <a:ext cx="365760"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9281160" y="2286000"/>
            <a:ext cx="365760" cy="0"/>
          </a:xfrm>
          <a:prstGeom prst="line">
            <a:avLst/>
          </a:prstGeom>
          <a:ln w="25400">
            <a:solidFill>
              <a:srgbClr val="4B9BFF"/>
            </a:solidFill>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868680" y="3749039"/>
            <a:ext cx="2834640" cy="1188720"/>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68680" y="3749039"/>
            <a:ext cx="73152" cy="11887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51560" y="3877055"/>
            <a:ext cx="256032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Environment</a:t>
            </a:r>
          </a:p>
        </p:txBody>
      </p:sp>
      <p:sp>
        <p:nvSpPr>
          <p:cNvPr id="24" name="TextBox 23"/>
          <p:cNvSpPr txBox="1"/>
          <p:nvPr/>
        </p:nvSpPr>
        <p:spPr>
          <a:xfrm>
            <a:off x="1051560" y="4142231"/>
            <a:ext cx="2542032" cy="713232"/>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Android Studio JBR supplies the JDK, while the local Android SDK provides emulator and platform-tools.</a:t>
            </a:r>
          </a:p>
        </p:txBody>
      </p:sp>
      <p:sp>
        <p:nvSpPr>
          <p:cNvPr id="25" name="Rounded Rectangle 24"/>
          <p:cNvSpPr/>
          <p:nvPr/>
        </p:nvSpPr>
        <p:spPr>
          <a:xfrm>
            <a:off x="3840480" y="3749039"/>
            <a:ext cx="2834640" cy="1188720"/>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840480" y="3749039"/>
            <a:ext cx="73152" cy="11887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023360" y="3877055"/>
            <a:ext cx="256032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Validation</a:t>
            </a:r>
          </a:p>
        </p:txBody>
      </p:sp>
      <p:sp>
        <p:nvSpPr>
          <p:cNvPr id="28" name="TextBox 27"/>
          <p:cNvSpPr txBox="1"/>
          <p:nvPr/>
        </p:nvSpPr>
        <p:spPr>
          <a:xfrm>
            <a:off x="4023360" y="4142231"/>
            <a:ext cx="2542032" cy="713232"/>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The debug build is installed with installDebug, then the launcher is opened directly on the device.</a:t>
            </a:r>
          </a:p>
        </p:txBody>
      </p:sp>
      <p:sp>
        <p:nvSpPr>
          <p:cNvPr id="29" name="Rounded Rectangle 28"/>
          <p:cNvSpPr/>
          <p:nvPr/>
        </p:nvSpPr>
        <p:spPr>
          <a:xfrm>
            <a:off x="6812280" y="3749039"/>
            <a:ext cx="4663440" cy="1188720"/>
          </a:xfrm>
          <a:prstGeom prst="roundRect">
            <a:avLst/>
          </a:prstGeom>
          <a:solidFill>
            <a:srgbClr val="1B212A"/>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812280" y="3749039"/>
            <a:ext cx="73152" cy="11887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995160" y="3877055"/>
            <a:ext cx="4389120" cy="228600"/>
          </a:xfrm>
          <a:prstGeom prst="rect">
            <a:avLst/>
          </a:prstGeom>
          <a:noFill/>
          <a:ln>
            <a:noFill/>
          </a:ln>
        </p:spPr>
        <p:txBody>
          <a:bodyPr wrap="square" anchor="t">
            <a:spAutoFit/>
          </a:bodyPr>
          <a:lstStyle/>
          <a:p>
            <a:pPr algn="l">
              <a:spcBef>
                <a:spcPts val="0"/>
              </a:spcBef>
              <a:spcAft>
                <a:spcPts val="0"/>
              </a:spcAft>
            </a:pPr>
            <a:r>
              <a:rPr sz="1200" b="1" i="0">
                <a:solidFill>
                  <a:srgbClr val="FFFFFF"/>
                </a:solidFill>
                <a:latin typeface="Segoe UI"/>
              </a:rPr>
              <a:t>Documentation</a:t>
            </a:r>
          </a:p>
        </p:txBody>
      </p:sp>
      <p:sp>
        <p:nvSpPr>
          <p:cNvPr id="32" name="TextBox 31"/>
          <p:cNvSpPr txBox="1"/>
          <p:nvPr/>
        </p:nvSpPr>
        <p:spPr>
          <a:xfrm>
            <a:off x="6995160" y="4142231"/>
            <a:ext cx="4370831" cy="713232"/>
          </a:xfrm>
          <a:prstGeom prst="rect">
            <a:avLst/>
          </a:prstGeom>
          <a:noFill/>
          <a:ln>
            <a:noFill/>
          </a:ln>
        </p:spPr>
        <p:txBody>
          <a:bodyPr wrap="square" anchor="t">
            <a:spAutoFit/>
          </a:bodyPr>
          <a:lstStyle/>
          <a:p>
            <a:pPr algn="l">
              <a:spcBef>
                <a:spcPts val="0"/>
              </a:spcBef>
              <a:spcAft>
                <a:spcPts val="0"/>
              </a:spcAft>
            </a:pPr>
            <a:r>
              <a:rPr sz="1100" b="0" i="0">
                <a:solidFill>
                  <a:srgbClr val="A6AFBD"/>
                </a:solidFill>
                <a:latin typeface="Segoe UI"/>
              </a:rPr>
              <a:t>Screenshots and release notes in docs/ capture the state of the app and the roadmap after each milestone.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0D10"/>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85800" y="347472"/>
            <a:ext cx="5120640" cy="228600"/>
          </a:xfrm>
          <a:prstGeom prst="rect">
            <a:avLst/>
          </a:prstGeom>
          <a:noFill/>
          <a:ln>
            <a:noFill/>
          </a:ln>
        </p:spPr>
        <p:txBody>
          <a:bodyPr wrap="square" anchor="t">
            <a:spAutoFit/>
          </a:bodyPr>
          <a:lstStyle/>
          <a:p>
            <a:pPr algn="l">
              <a:spcBef>
                <a:spcPts val="0"/>
              </a:spcBef>
              <a:spcAft>
                <a:spcPts val="0"/>
              </a:spcAft>
            </a:pPr>
            <a:r>
              <a:rPr sz="1100" b="1" i="0">
                <a:solidFill>
                  <a:srgbClr val="4B9BFF"/>
                </a:solidFill>
                <a:latin typeface="Segoe UI"/>
              </a:rPr>
              <a:t>STATUS AND NEXT STEPS</a:t>
            </a:r>
          </a:p>
        </p:txBody>
      </p:sp>
      <p:sp>
        <p:nvSpPr>
          <p:cNvPr id="4" name="TextBox 3"/>
          <p:cNvSpPr txBox="1"/>
          <p:nvPr/>
        </p:nvSpPr>
        <p:spPr>
          <a:xfrm>
            <a:off x="685800" y="530352"/>
            <a:ext cx="9875520" cy="502920"/>
          </a:xfrm>
          <a:prstGeom prst="rect">
            <a:avLst/>
          </a:prstGeom>
          <a:noFill/>
          <a:ln>
            <a:noFill/>
          </a:ln>
        </p:spPr>
        <p:txBody>
          <a:bodyPr wrap="square" anchor="t">
            <a:spAutoFit/>
          </a:bodyPr>
          <a:lstStyle/>
          <a:p>
            <a:pPr algn="l">
              <a:spcBef>
                <a:spcPts val="0"/>
              </a:spcBef>
              <a:spcAft>
                <a:spcPts val="0"/>
              </a:spcAft>
            </a:pPr>
            <a:r>
              <a:rPr sz="2600" b="1" i="0">
                <a:solidFill>
                  <a:srgbClr val="F5F7FA"/>
                </a:solidFill>
                <a:latin typeface="Segoe UI"/>
              </a:rPr>
              <a:t>Where it stands now</a:t>
            </a:r>
          </a:p>
        </p:txBody>
      </p:sp>
      <p:sp>
        <p:nvSpPr>
          <p:cNvPr id="5" name="TextBox 4"/>
          <p:cNvSpPr txBox="1"/>
          <p:nvPr/>
        </p:nvSpPr>
        <p:spPr>
          <a:xfrm>
            <a:off x="685800" y="960120"/>
            <a:ext cx="10058400" cy="411480"/>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The alpha is a working launcher shell with a clear path for the next features.</a:t>
            </a:r>
          </a:p>
        </p:txBody>
      </p:sp>
      <p:sp>
        <p:nvSpPr>
          <p:cNvPr id="6" name="TextBox 5"/>
          <p:cNvSpPr txBox="1"/>
          <p:nvPr/>
        </p:nvSpPr>
        <p:spPr>
          <a:xfrm>
            <a:off x="11247120" y="6400800"/>
            <a:ext cx="548640" cy="228600"/>
          </a:xfrm>
          <a:prstGeom prst="rect">
            <a:avLst/>
          </a:prstGeom>
          <a:noFill/>
          <a:ln>
            <a:noFill/>
          </a:ln>
        </p:spPr>
        <p:txBody>
          <a:bodyPr wrap="square" anchor="t">
            <a:spAutoFit/>
          </a:bodyPr>
          <a:lstStyle/>
          <a:p>
            <a:pPr algn="r">
              <a:spcBef>
                <a:spcPts val="0"/>
              </a:spcBef>
              <a:spcAft>
                <a:spcPts val="0"/>
              </a:spcAft>
            </a:pPr>
            <a:r>
              <a:rPr sz="1100" b="0" i="0">
                <a:solidFill>
                  <a:srgbClr val="6F7A8A"/>
                </a:solidFill>
                <a:latin typeface="Segoe UI"/>
              </a:rPr>
              <a:t>11</a:t>
            </a:r>
          </a:p>
        </p:txBody>
      </p:sp>
      <p:sp>
        <p:nvSpPr>
          <p:cNvPr id="7" name="Rounded Rectangle 6"/>
          <p:cNvSpPr/>
          <p:nvPr/>
        </p:nvSpPr>
        <p:spPr>
          <a:xfrm>
            <a:off x="731520" y="1463040"/>
            <a:ext cx="3474720" cy="438912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463040"/>
            <a:ext cx="73152" cy="43891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1609344"/>
            <a:ext cx="31455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What is in place</a:t>
            </a:r>
          </a:p>
        </p:txBody>
      </p:sp>
      <p:sp>
        <p:nvSpPr>
          <p:cNvPr id="10" name="TextBox 9"/>
          <p:cNvSpPr txBox="1"/>
          <p:nvPr/>
        </p:nvSpPr>
        <p:spPr>
          <a:xfrm>
            <a:off x="932688" y="1975104"/>
            <a:ext cx="3127248" cy="373075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Working home-screen replacement</a:t>
            </a:r>
          </a:p>
          <a:p>
            <a:pPr algn="l">
              <a:spcBef>
                <a:spcPts val="0"/>
              </a:spcBef>
              <a:spcAft>
                <a:spcPts val="0"/>
              </a:spcAft>
            </a:pPr>
            <a:r>
              <a:rPr sz="1200" b="0" i="0">
                <a:solidFill>
                  <a:srgbClr val="A6AFBD"/>
                </a:solidFill>
                <a:latin typeface="Segoe UI"/>
              </a:rPr>
              <a:t>- Start screen tile grid and app list</a:t>
            </a:r>
          </a:p>
          <a:p>
            <a:pPr algn="l">
              <a:spcBef>
                <a:spcPts val="0"/>
              </a:spcBef>
              <a:spcAft>
                <a:spcPts val="0"/>
              </a:spcAft>
            </a:pPr>
            <a:r>
              <a:rPr sz="1200" b="0" i="0">
                <a:solidFill>
                  <a:srgbClr val="A6AFBD"/>
                </a:solidFill>
                <a:latin typeface="Segoe UI"/>
              </a:rPr>
              <a:t>- Edit mode, drag and drop, and groups</a:t>
            </a:r>
          </a:p>
          <a:p>
            <a:pPr algn="l">
              <a:spcBef>
                <a:spcPts val="0"/>
              </a:spcBef>
              <a:spcAft>
                <a:spcPts val="0"/>
              </a:spcAft>
            </a:pPr>
            <a:r>
              <a:rPr sz="1200" b="0" i="0">
                <a:solidFill>
                  <a:srgbClr val="A6AFBD"/>
                </a:solidFill>
                <a:latin typeface="Segoe UI"/>
              </a:rPr>
              <a:t>- Accent color and transparency settings</a:t>
            </a:r>
          </a:p>
          <a:p>
            <a:pPr algn="l">
              <a:spcBef>
                <a:spcPts val="0"/>
              </a:spcBef>
              <a:spcAft>
                <a:spcPts val="0"/>
              </a:spcAft>
            </a:pPr>
            <a:r>
              <a:rPr sz="1200" b="0" i="0">
                <a:solidFill>
                  <a:srgbClr val="A6AFBD"/>
                </a:solidFill>
                <a:latin typeface="Segoe UI"/>
              </a:rPr>
              <a:t>- Metro-inspired visual language</a:t>
            </a:r>
          </a:p>
        </p:txBody>
      </p:sp>
      <p:sp>
        <p:nvSpPr>
          <p:cNvPr id="11" name="Rounded Rectangle 10"/>
          <p:cNvSpPr/>
          <p:nvPr/>
        </p:nvSpPr>
        <p:spPr>
          <a:xfrm>
            <a:off x="4389120" y="1463040"/>
            <a:ext cx="3474720" cy="438912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389120" y="1463040"/>
            <a:ext cx="73152" cy="43891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90288" y="1609344"/>
            <a:ext cx="314553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What is still evolving</a:t>
            </a:r>
          </a:p>
        </p:txBody>
      </p:sp>
      <p:sp>
        <p:nvSpPr>
          <p:cNvPr id="14" name="TextBox 13"/>
          <p:cNvSpPr txBox="1"/>
          <p:nvPr/>
        </p:nvSpPr>
        <p:spPr>
          <a:xfrm>
            <a:off x="4590288" y="1975104"/>
            <a:ext cx="3127248" cy="373075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Persistent tile storage refinement</a:t>
            </a:r>
          </a:p>
          <a:p>
            <a:pPr algn="l">
              <a:spcBef>
                <a:spcPts val="0"/>
              </a:spcBef>
              <a:spcAft>
                <a:spcPts val="0"/>
              </a:spcAft>
            </a:pPr>
            <a:r>
              <a:rPr sz="1200" b="0" i="0">
                <a:solidFill>
                  <a:srgbClr val="A6AFBD"/>
                </a:solidFill>
                <a:latin typeface="Segoe UI"/>
              </a:rPr>
              <a:t>- True live tile data sources</a:t>
            </a:r>
          </a:p>
          <a:p>
            <a:pPr algn="l">
              <a:spcBef>
                <a:spcPts val="0"/>
              </a:spcBef>
              <a:spcAft>
                <a:spcPts val="0"/>
              </a:spcAft>
            </a:pPr>
            <a:r>
              <a:rPr sz="1200" b="0" i="0">
                <a:solidFill>
                  <a:srgbClr val="A6AFBD"/>
                </a:solidFill>
                <a:latin typeface="Segoe UI"/>
              </a:rPr>
              <a:t>- Notification badges</a:t>
            </a:r>
          </a:p>
          <a:p>
            <a:pPr algn="l">
              <a:spcBef>
                <a:spcPts val="0"/>
              </a:spcBef>
              <a:spcAft>
                <a:spcPts val="0"/>
              </a:spcAft>
            </a:pPr>
            <a:r>
              <a:rPr sz="1200" b="0" i="0">
                <a:solidFill>
                  <a:srgbClr val="A6AFBD"/>
                </a:solidFill>
                <a:latin typeface="Segoe UI"/>
              </a:rPr>
              <a:t>- Backup and restore polish</a:t>
            </a:r>
          </a:p>
          <a:p>
            <a:pPr algn="l">
              <a:spcBef>
                <a:spcPts val="0"/>
              </a:spcBef>
              <a:spcAft>
                <a:spcPts val="0"/>
              </a:spcAft>
            </a:pPr>
            <a:r>
              <a:rPr sz="1200" b="0" i="0">
                <a:solidFill>
                  <a:srgbClr val="A6AFBD"/>
                </a:solidFill>
                <a:latin typeface="Segoe UI"/>
              </a:rPr>
              <a:t>- Widget and richer integration work</a:t>
            </a:r>
          </a:p>
        </p:txBody>
      </p:sp>
      <p:sp>
        <p:nvSpPr>
          <p:cNvPr id="15" name="Rounded Rectangle 14"/>
          <p:cNvSpPr/>
          <p:nvPr/>
        </p:nvSpPr>
        <p:spPr>
          <a:xfrm>
            <a:off x="8046720" y="1463040"/>
            <a:ext cx="3383280" cy="4389120"/>
          </a:xfrm>
          <a:prstGeom prst="roundRect">
            <a:avLst/>
          </a:prstGeom>
          <a:solidFill>
            <a:srgbClr val="111720"/>
          </a:solidFill>
          <a:ln>
            <a:solidFill>
              <a:srgbClr val="2D3642"/>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463040"/>
            <a:ext cx="73152" cy="4389120"/>
          </a:xfrm>
          <a:prstGeom prst="rect">
            <a:avLst/>
          </a:prstGeom>
          <a:solidFill>
            <a:srgbClr val="0050EF"/>
          </a:solidFill>
          <a:ln>
            <a:solidFill>
              <a:srgbClr val="0050E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47888" y="1609344"/>
            <a:ext cx="3054096" cy="292608"/>
          </a:xfrm>
          <a:prstGeom prst="rect">
            <a:avLst/>
          </a:prstGeom>
          <a:noFill/>
          <a:ln>
            <a:noFill/>
          </a:ln>
        </p:spPr>
        <p:txBody>
          <a:bodyPr wrap="square" anchor="t">
            <a:spAutoFit/>
          </a:bodyPr>
          <a:lstStyle/>
          <a:p>
            <a:pPr algn="l">
              <a:spcBef>
                <a:spcPts val="0"/>
              </a:spcBef>
              <a:spcAft>
                <a:spcPts val="0"/>
              </a:spcAft>
            </a:pPr>
            <a:r>
              <a:rPr sz="1400" b="1" i="0">
                <a:solidFill>
                  <a:srgbClr val="FFFFFF"/>
                </a:solidFill>
                <a:latin typeface="Segoe UI"/>
              </a:rPr>
              <a:t>Takeaway</a:t>
            </a:r>
          </a:p>
        </p:txBody>
      </p:sp>
      <p:sp>
        <p:nvSpPr>
          <p:cNvPr id="18" name="TextBox 17"/>
          <p:cNvSpPr txBox="1"/>
          <p:nvPr/>
        </p:nvSpPr>
        <p:spPr>
          <a:xfrm>
            <a:off x="8247888" y="1975104"/>
            <a:ext cx="3035808" cy="3730752"/>
          </a:xfrm>
          <a:prstGeom prst="rect">
            <a:avLst/>
          </a:prstGeom>
          <a:noFill/>
          <a:ln>
            <a:noFill/>
          </a:ln>
        </p:spPr>
        <p:txBody>
          <a:bodyPr wrap="square" anchor="t">
            <a:spAutoFit/>
          </a:bodyPr>
          <a:lstStyle/>
          <a:p>
            <a:pPr algn="l">
              <a:spcBef>
                <a:spcPts val="0"/>
              </a:spcBef>
              <a:spcAft>
                <a:spcPts val="0"/>
              </a:spcAft>
            </a:pPr>
            <a:r>
              <a:rPr sz="1200" b="0" i="0">
                <a:solidFill>
                  <a:srgbClr val="A6AFBD"/>
                </a:solidFill>
                <a:latin typeface="Segoe UI"/>
              </a:rPr>
              <a:t>- The project is already a usable launcher.</a:t>
            </a:r>
          </a:p>
          <a:p>
            <a:pPr algn="l">
              <a:spcBef>
                <a:spcPts val="0"/>
              </a:spcBef>
              <a:spcAft>
                <a:spcPts val="0"/>
              </a:spcAft>
            </a:pPr>
            <a:r>
              <a:rPr sz="1200" b="0" i="0">
                <a:solidFill>
                  <a:srgbClr val="A6AFBD"/>
                </a:solidFill>
                <a:latin typeface="Segoe UI"/>
              </a:rPr>
              <a:t>- The remaining work is about fidelity, data, and scale.</a:t>
            </a:r>
          </a:p>
          <a:p>
            <a:pPr algn="l">
              <a:spcBef>
                <a:spcPts val="0"/>
              </a:spcBef>
              <a:spcAft>
                <a:spcPts val="0"/>
              </a:spcAft>
            </a:pPr>
            <a:r>
              <a:rPr sz="1200" b="0" i="0">
                <a:solidFill>
                  <a:srgbClr val="A6AFBD"/>
                </a:solidFill>
                <a:latin typeface="Segoe UI"/>
              </a:rPr>
              <a:t>- The architecture leaves room for those additions without a rewrite.</a:t>
            </a:r>
          </a:p>
        </p:txBody>
      </p:sp>
      <p:sp>
        <p:nvSpPr>
          <p:cNvPr id="19" name="TextBox 18"/>
          <p:cNvSpPr txBox="1"/>
          <p:nvPr/>
        </p:nvSpPr>
        <p:spPr>
          <a:xfrm>
            <a:off x="731520" y="6080760"/>
            <a:ext cx="10698480" cy="320040"/>
          </a:xfrm>
          <a:prstGeom prst="rect">
            <a:avLst/>
          </a:prstGeom>
          <a:noFill/>
          <a:ln>
            <a:noFill/>
          </a:ln>
        </p:spPr>
        <p:txBody>
          <a:bodyPr wrap="square" anchor="t">
            <a:spAutoFit/>
          </a:bodyPr>
          <a:lstStyle/>
          <a:p>
            <a:pPr algn="ctr">
              <a:spcBef>
                <a:spcPts val="0"/>
              </a:spcBef>
              <a:spcAft>
                <a:spcPts val="0"/>
              </a:spcAft>
            </a:pPr>
            <a:r>
              <a:rPr sz="1300" b="1" i="0">
                <a:solidFill>
                  <a:srgbClr val="F5F7FA"/>
                </a:solidFill>
                <a:latin typeface="Segoe UI"/>
              </a:rPr>
              <a:t>Result: a modern Android launcher that recreates the Windows Phone feel while staying maintainable in Kotlin and Compose.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